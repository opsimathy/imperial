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7" roundtripDataSignature="AMtx7mjOYdoou1x1brlyLE4aMHIAnjXzk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Barbara Brav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4-11T05:07:02.455">
    <p:pos x="145" y="454"/>
    <p:text>@ellaorme28@gmail.com could you specify that different values of K were acceptable and give examples?</p:text>
    <p:extLst>
      <p:ext uri="{C676402C-5697-4E1C-873F-D02D1690AC5C}">
        <p15:threadingInfo timeZoneBias="0"/>
      </p:ext>
      <p:ext uri="http://customooxmlschemas.google.com/">
        <go:slidesCustomData xmlns:go="http://customooxmlschemas.google.com/" commentPostId="AAABhm0MbII"/>
      </p:ext>
    </p:extLst>
  </p:cm>
  <p:cm authorId="0" idx="2" dt="2025-04-11T05:07:02.455">
    <p:pos x="145" y="454"/>
    <p:text>@zekai.li18@imperial.ac.uk could you advise what K were accepted?</p:text>
    <p:extLst>
      <p:ext uri="{C676402C-5697-4E1C-873F-D02D1690AC5C}">
        <p15:threadingInfo timeZoneBias="0">
          <p15:parentCm authorId="0" idx="1"/>
        </p15:threadingInfo>
      </p:ext>
      <p:ext uri="http://customooxmlschemas.google.com/">
        <go:slidesCustomData xmlns:go="http://customooxmlschemas.google.com/" commentPostId="AAABhrtaePs"/>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5d76767f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g345d76767fb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5d76767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45d76767f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45d76767f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45d76767fb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45d76767f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345d76767fb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45d76767f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345d76767fb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4a4efbda9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34a4efbda98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4a589715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4a5897155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4a4efbda9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4a4efbda98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4a4efbda9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4a4efbda98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4a4efbda9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34a4efbda98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4a545359d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4a545359d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4a5897155b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4a5897155b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4a5897155b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4a5897155b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1.png"/><Relationship Id="rId4" Type="http://schemas.openxmlformats.org/officeDocument/2006/relationships/image" Target="../media/image33.png"/><Relationship Id="rId5"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23.png"/><Relationship Id="rId5" Type="http://schemas.openxmlformats.org/officeDocument/2006/relationships/image" Target="../media/image27.png"/><Relationship Id="rId6"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comments" Target="../comments/comment1.xml"/><Relationship Id="rId4" Type="http://schemas.openxmlformats.org/officeDocument/2006/relationships/image" Target="../media/image34.png"/><Relationship Id="rId5" Type="http://schemas.openxmlformats.org/officeDocument/2006/relationships/image" Target="../media/image24.png"/><Relationship Id="rId6"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GB"/>
              <a:t>CW2 - Common Mistakes</a:t>
            </a:r>
            <a:endParaRPr/>
          </a:p>
          <a:p>
            <a:pPr indent="0" lvl="0" marL="0" rtl="0" algn="ctr">
              <a:lnSpc>
                <a:spcPct val="100000"/>
              </a:lnSpc>
              <a:spcBef>
                <a:spcPts val="0"/>
              </a:spcBef>
              <a:spcAft>
                <a:spcPts val="0"/>
              </a:spcAft>
              <a:buSzPts val="5200"/>
              <a:buNone/>
            </a:pPr>
            <a:r>
              <a:rPr lang="en-GB"/>
              <a:t>and Feedback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2"/>
          <p:cNvSpPr txBox="1"/>
          <p:nvPr>
            <p:ph type="title"/>
          </p:nvPr>
        </p:nvSpPr>
        <p:spPr>
          <a:xfrm>
            <a:off x="81400" y="765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1 - BSc</a:t>
            </a:r>
            <a:endParaRPr/>
          </a:p>
        </p:txBody>
      </p:sp>
      <p:sp>
        <p:nvSpPr>
          <p:cNvPr id="60" name="Google Shape;60;p2"/>
          <p:cNvSpPr txBox="1"/>
          <p:nvPr/>
        </p:nvSpPr>
        <p:spPr>
          <a:xfrm>
            <a:off x="199600" y="890525"/>
            <a:ext cx="8813100" cy="40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i="0" lang="en-GB" sz="1800" u="none" cap="none" strike="noStrike">
                <a:solidFill>
                  <a:schemeClr val="dk1"/>
                </a:solidFill>
              </a:rPr>
              <a:t>Task 1 was generally very well answered</a:t>
            </a:r>
            <a:r>
              <a:rPr lang="en-GB" sz="1800">
                <a:solidFill>
                  <a:schemeClr val="dk1"/>
                </a:solidFill>
              </a:rPr>
              <a:t>, well done!</a:t>
            </a:r>
            <a:endParaRPr sz="1800">
              <a:solidFill>
                <a:schemeClr val="dk1"/>
              </a:solidFill>
            </a:endParaRPr>
          </a:p>
          <a:p>
            <a:pPr indent="0" lvl="0" marL="0" marR="0" rtl="0" algn="l">
              <a:lnSpc>
                <a:spcPct val="100000"/>
              </a:lnSpc>
              <a:spcBef>
                <a:spcPts val="0"/>
              </a:spcBef>
              <a:spcAft>
                <a:spcPts val="0"/>
              </a:spcAft>
              <a:buNone/>
            </a:pPr>
            <a:r>
              <a:t/>
            </a:r>
            <a:endParaRPr sz="1800">
              <a:solidFill>
                <a:schemeClr val="dk1"/>
              </a:solidFill>
            </a:endParaRPr>
          </a:p>
          <a:p>
            <a:pPr indent="0" lvl="0" marL="0" marR="0" rtl="0" algn="l">
              <a:lnSpc>
                <a:spcPct val="100000"/>
              </a:lnSpc>
              <a:spcBef>
                <a:spcPts val="0"/>
              </a:spcBef>
              <a:spcAft>
                <a:spcPts val="0"/>
              </a:spcAft>
              <a:buNone/>
            </a:pPr>
            <a:r>
              <a:rPr lang="en-GB" sz="1800">
                <a:solidFill>
                  <a:schemeClr val="dk1"/>
                </a:solidFill>
              </a:rPr>
              <a:t>Here we provide a few clarifications on some common mistake or missed analysis</a:t>
            </a:r>
            <a:endParaRPr sz="1800">
              <a:solidFill>
                <a:schemeClr val="dk1"/>
              </a:solidFill>
            </a:endParaRPr>
          </a:p>
          <a:p>
            <a:pPr indent="0" lvl="0" marL="0" marR="0" rtl="0" algn="l">
              <a:lnSpc>
                <a:spcPct val="100000"/>
              </a:lnSpc>
              <a:spcBef>
                <a:spcPts val="0"/>
              </a:spcBef>
              <a:spcAft>
                <a:spcPts val="0"/>
              </a:spcAft>
              <a:buNone/>
            </a:pPr>
            <a:r>
              <a:t/>
            </a:r>
            <a:endParaRPr sz="1800">
              <a:solidFill>
                <a:schemeClr val="dk1"/>
              </a:solidFill>
            </a:endParaRPr>
          </a:p>
          <a:p>
            <a:pPr indent="0" lvl="0" marL="0" marR="0" rtl="0" algn="l">
              <a:lnSpc>
                <a:spcPct val="100000"/>
              </a:lnSpc>
              <a:spcBef>
                <a:spcPts val="0"/>
              </a:spcBef>
              <a:spcAft>
                <a:spcPts val="0"/>
              </a:spcAft>
              <a:buNone/>
            </a:pPr>
            <a:r>
              <a:t/>
            </a:r>
            <a:endParaRPr sz="1800">
              <a:solidFill>
                <a:schemeClr val="dk1"/>
              </a:solidFill>
            </a:endParaRPr>
          </a:p>
          <a:p>
            <a:pPr indent="0" lvl="0" marL="0" marR="0" rtl="0" algn="l">
              <a:lnSpc>
                <a:spcPct val="100000"/>
              </a:lnSpc>
              <a:spcBef>
                <a:spcPts val="0"/>
              </a:spcBef>
              <a:spcAft>
                <a:spcPts val="0"/>
              </a:spcAft>
              <a:buNone/>
            </a:pPr>
            <a:r>
              <a:rPr lang="en-GB" sz="1800">
                <a:solidFill>
                  <a:schemeClr val="dk1"/>
                </a:solidFill>
              </a:rPr>
              <a:t>First, remember to comment on aspects </a:t>
            </a:r>
            <a:r>
              <a:rPr lang="en-GB" sz="1800" u="sng">
                <a:solidFill>
                  <a:schemeClr val="dk1"/>
                </a:solidFill>
              </a:rPr>
              <a:t>that are specifically required</a:t>
            </a:r>
            <a:r>
              <a:rPr lang="en-GB" sz="1800">
                <a:solidFill>
                  <a:schemeClr val="dk1"/>
                </a:solidFill>
              </a:rPr>
              <a:t> e.g.:</a:t>
            </a:r>
            <a:endParaRPr sz="1800">
              <a:solidFill>
                <a:schemeClr val="dk1"/>
              </a:solidFill>
            </a:endParaRPr>
          </a:p>
          <a:p>
            <a:pPr indent="0" lvl="0" marL="0" marR="0" rtl="0" algn="l">
              <a:lnSpc>
                <a:spcPct val="100000"/>
              </a:lnSpc>
              <a:spcBef>
                <a:spcPts val="0"/>
              </a:spcBef>
              <a:spcAft>
                <a:spcPts val="0"/>
              </a:spcAft>
              <a:buNone/>
            </a:pPr>
            <a:r>
              <a:t/>
            </a:r>
            <a:endParaRPr sz="1800">
              <a:solidFill>
                <a:schemeClr val="dk1"/>
              </a:solidFill>
            </a:endParaRPr>
          </a:p>
          <a:p>
            <a:pPr indent="0" lvl="0" marL="0" marR="0" rtl="0" algn="l">
              <a:lnSpc>
                <a:spcPct val="100000"/>
              </a:lnSpc>
              <a:spcBef>
                <a:spcPts val="0"/>
              </a:spcBef>
              <a:spcAft>
                <a:spcPts val="0"/>
              </a:spcAft>
              <a:buNone/>
            </a:pPr>
            <a:r>
              <a:rPr lang="en-GB" sz="1800">
                <a:solidFill>
                  <a:schemeClr val="dk1"/>
                </a:solidFill>
              </a:rPr>
              <a:t>- whether the early stopping was triggered and at what epoch (depending on the random seed, one could have that early stopping was triggered or not)</a:t>
            </a:r>
            <a:endParaRPr sz="1800">
              <a:solidFill>
                <a:schemeClr val="dk1"/>
              </a:solidFill>
            </a:endParaRPr>
          </a:p>
          <a:p>
            <a:pPr indent="0" lvl="0" marL="0" marR="0" rtl="0" algn="l">
              <a:lnSpc>
                <a:spcPct val="100000"/>
              </a:lnSpc>
              <a:spcBef>
                <a:spcPts val="0"/>
              </a:spcBef>
              <a:spcAft>
                <a:spcPts val="0"/>
              </a:spcAft>
              <a:buNone/>
            </a:pPr>
            <a:r>
              <a:t/>
            </a:r>
            <a:endParaRPr sz="1800">
              <a:solidFill>
                <a:schemeClr val="dk1"/>
              </a:solidFill>
            </a:endParaRPr>
          </a:p>
          <a:p>
            <a:pPr indent="0" lvl="0" marL="0" marR="0" rtl="0" algn="l">
              <a:lnSpc>
                <a:spcPct val="100000"/>
              </a:lnSpc>
              <a:spcBef>
                <a:spcPts val="0"/>
              </a:spcBef>
              <a:spcAft>
                <a:spcPts val="0"/>
              </a:spcAft>
              <a:buNone/>
            </a:pPr>
            <a:r>
              <a:rPr lang="en-GB" sz="1800">
                <a:solidFill>
                  <a:schemeClr val="dk1"/>
                </a:solidFill>
              </a:rPr>
              <a:t>- why the dimensions of the low-dimensional representation of a sample was [8, 5, 5]</a:t>
            </a:r>
            <a:endParaRPr sz="1800">
              <a:solidFill>
                <a:schemeClr val="dk1"/>
              </a:solidFill>
            </a:endParaRPr>
          </a:p>
          <a:p>
            <a:pPr indent="0" lvl="0" marL="0" marR="0" rtl="0" algn="l">
              <a:lnSpc>
                <a:spcPct val="100000"/>
              </a:lnSpc>
              <a:spcBef>
                <a:spcPts val="0"/>
              </a:spcBef>
              <a:spcAft>
                <a:spcPts val="0"/>
              </a:spcAft>
              <a:buNone/>
            </a:pPr>
            <a:r>
              <a:rPr lang="en-GB" sz="1800">
                <a:solidFill>
                  <a:schemeClr val="dk1"/>
                </a:solidFill>
              </a:rPr>
              <a:t>(computable using the output dimensions of the different layers, see PyTorch documentation </a:t>
            </a:r>
            <a:r>
              <a:rPr lang="en-GB" sz="1800">
                <a:solidFill>
                  <a:srgbClr val="1155CC"/>
                </a:solidFill>
              </a:rPr>
              <a:t>https://pytorch.org/docs/stable/generated/torch.nn.Conv2d.html</a:t>
            </a:r>
            <a:r>
              <a:rPr lang="en-GB" sz="1800">
                <a:solidFill>
                  <a:schemeClr val="dk1"/>
                </a:solidFill>
              </a:rPr>
              <a:t>)</a:t>
            </a:r>
            <a:endParaRPr sz="1800">
              <a:solidFill>
                <a:schemeClr val="dk1"/>
              </a:solidFill>
            </a:endParaRPr>
          </a:p>
          <a:p>
            <a:pPr indent="0" lvl="0" marL="0" marR="0" rtl="0" algn="l">
              <a:lnSpc>
                <a:spcPct val="100000"/>
              </a:lnSpc>
              <a:spcBef>
                <a:spcPts val="0"/>
              </a:spcBef>
              <a:spcAft>
                <a:spcPts val="0"/>
              </a:spcAft>
              <a:buNone/>
            </a:pPr>
            <a:r>
              <a:t/>
            </a:r>
            <a:endParaRPr sz="1800">
              <a:solidFill>
                <a:schemeClr val="dk1"/>
              </a:solidFill>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35714"/>
              </a:lnSpc>
              <a:spcBef>
                <a:spcPts val="0"/>
              </a:spcBef>
              <a:spcAft>
                <a:spcPts val="0"/>
              </a:spcAft>
              <a:buClr>
                <a:srgbClr val="000000"/>
              </a:buClr>
              <a:buSzPts val="1050"/>
              <a:buFont typeface="Arial"/>
              <a:buNone/>
            </a:pPr>
            <a:r>
              <a:t/>
            </a:r>
            <a:endParaRPr b="0" i="0" sz="1050" u="none" cap="none" strike="noStrike">
              <a:solidFill>
                <a:schemeClr val="dk1"/>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n-GB" sz="1050" u="none" cap="none" strike="noStrike">
                <a:solidFill>
                  <a:schemeClr val="dk1"/>
                </a:solidFill>
                <a:highlight>
                  <a:srgbClr val="F7F7F7"/>
                </a:highlight>
                <a:latin typeface="Courier New"/>
                <a:ea typeface="Courier New"/>
                <a:cs typeface="Courier New"/>
                <a:sym typeface="Courier New"/>
              </a:rPr>
              <a:t> </a:t>
            </a:r>
            <a:endParaRPr b="0" i="0" sz="1050" u="none" cap="none" strike="noStrike">
              <a:solidFill>
                <a:schemeClr val="dk1"/>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t/>
            </a:r>
            <a:endParaRPr b="0" i="0" sz="1050" u="none" cap="none" strike="noStrike">
              <a:solidFill>
                <a:schemeClr val="dk1"/>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35714"/>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g345d76767fb_0_35"/>
          <p:cNvSpPr txBox="1"/>
          <p:nvPr>
            <p:ph type="title"/>
          </p:nvPr>
        </p:nvSpPr>
        <p:spPr>
          <a:xfrm>
            <a:off x="81400" y="765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1.1</a:t>
            </a:r>
            <a:endParaRPr/>
          </a:p>
        </p:txBody>
      </p:sp>
      <p:sp>
        <p:nvSpPr>
          <p:cNvPr id="66" name="Google Shape;66;g345d76767fb_0_35"/>
          <p:cNvSpPr txBox="1"/>
          <p:nvPr/>
        </p:nvSpPr>
        <p:spPr>
          <a:xfrm>
            <a:off x="199600" y="890525"/>
            <a:ext cx="8813100" cy="40842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None/>
            </a:pPr>
            <a:r>
              <a:rPr lang="en-GB" sz="1800">
                <a:solidFill>
                  <a:schemeClr val="dk1"/>
                </a:solidFill>
              </a:rPr>
              <a:t>The default MSELoss() in Torch did not give exactly the MSE we asked for, because it averages both over features and samples, while our MSE is averaged over samples only (it was clearly still good as training objective function!) </a:t>
            </a:r>
            <a:endParaRPr sz="1800">
              <a:solidFill>
                <a:schemeClr val="dk1"/>
              </a:solidFill>
            </a:endParaRPr>
          </a:p>
          <a:p>
            <a:pPr indent="0" lvl="0" marL="457200" marR="0" rtl="0" algn="l">
              <a:lnSpc>
                <a:spcPct val="100000"/>
              </a:lnSpc>
              <a:spcBef>
                <a:spcPts val="0"/>
              </a:spcBef>
              <a:spcAft>
                <a:spcPts val="0"/>
              </a:spcAft>
              <a:buNone/>
            </a:pPr>
            <a:r>
              <a:rPr lang="en-GB">
                <a:solidFill>
                  <a:schemeClr val="dk1"/>
                </a:solidFill>
              </a:rPr>
              <a:t>One could have defined a custom MSE function:</a:t>
            </a:r>
            <a:endParaRPr>
              <a:solidFill>
                <a:schemeClr val="dk1"/>
              </a:solidFill>
            </a:endParaRPr>
          </a:p>
          <a:p>
            <a:pPr indent="0" lvl="0" marL="457200" marR="0" rtl="0" algn="l">
              <a:lnSpc>
                <a:spcPct val="100000"/>
              </a:lnSpc>
              <a:spcBef>
                <a:spcPts val="0"/>
              </a:spcBef>
              <a:spcAft>
                <a:spcPts val="0"/>
              </a:spcAft>
              <a:buNone/>
            </a:pPr>
            <a:r>
              <a:t/>
            </a:r>
            <a:endParaRPr sz="1800">
              <a:solidFill>
                <a:schemeClr val="dk1"/>
              </a:solidFill>
            </a:endParaRPr>
          </a:p>
          <a:p>
            <a:pPr indent="0" lvl="0" marL="457200" marR="0" rtl="0" algn="l">
              <a:lnSpc>
                <a:spcPct val="100000"/>
              </a:lnSpc>
              <a:spcBef>
                <a:spcPts val="0"/>
              </a:spcBef>
              <a:spcAft>
                <a:spcPts val="0"/>
              </a:spcAft>
              <a:buNone/>
            </a:pPr>
            <a:r>
              <a:t/>
            </a:r>
            <a:endParaRPr sz="1800">
              <a:solidFill>
                <a:schemeClr val="dk1"/>
              </a:solidFill>
            </a:endParaRPr>
          </a:p>
          <a:p>
            <a:pPr indent="0" lvl="0" marL="457200" marR="0" rtl="0" algn="l">
              <a:lnSpc>
                <a:spcPct val="100000"/>
              </a:lnSpc>
              <a:spcBef>
                <a:spcPts val="0"/>
              </a:spcBef>
              <a:spcAft>
                <a:spcPts val="0"/>
              </a:spcAft>
              <a:buNone/>
            </a:pPr>
            <a:r>
              <a:t/>
            </a:r>
            <a:endParaRPr sz="1800">
              <a:solidFill>
                <a:schemeClr val="dk1"/>
              </a:solidFill>
            </a:endParaRPr>
          </a:p>
          <a:p>
            <a:pPr indent="0" lvl="0" marL="0" marR="0" rtl="0" algn="l">
              <a:lnSpc>
                <a:spcPct val="100000"/>
              </a:lnSpc>
              <a:spcBef>
                <a:spcPts val="0"/>
              </a:spcBef>
              <a:spcAft>
                <a:spcPts val="0"/>
              </a:spcAft>
              <a:buNone/>
            </a:pPr>
            <a:r>
              <a:t/>
            </a:r>
            <a:endParaRPr sz="1800">
              <a:solidFill>
                <a:schemeClr val="dk1"/>
              </a:solidFill>
            </a:endParaRPr>
          </a:p>
          <a:p>
            <a:pPr indent="0" lvl="0" marL="457200" marR="0" rtl="0" algn="l">
              <a:lnSpc>
                <a:spcPct val="100000"/>
              </a:lnSpc>
              <a:spcBef>
                <a:spcPts val="0"/>
              </a:spcBef>
              <a:spcAft>
                <a:spcPts val="0"/>
              </a:spcAft>
              <a:buNone/>
            </a:pPr>
            <a:r>
              <a:rPr lang="en-GB">
                <a:solidFill>
                  <a:schemeClr val="dk1"/>
                </a:solidFill>
              </a:rPr>
              <a:t>Or used the option reduction = ‘sum’</a:t>
            </a:r>
            <a:endParaRPr>
              <a:solidFill>
                <a:schemeClr val="dk1"/>
              </a:solidFill>
            </a:endParaRPr>
          </a:p>
          <a:p>
            <a:pPr indent="0" lvl="0" marL="457200" marR="0" rtl="0" algn="l">
              <a:lnSpc>
                <a:spcPct val="100000"/>
              </a:lnSpc>
              <a:spcBef>
                <a:spcPts val="0"/>
              </a:spcBef>
              <a:spcAft>
                <a:spcPts val="0"/>
              </a:spcAft>
              <a:buNone/>
            </a:pPr>
            <a:r>
              <a:t/>
            </a:r>
            <a:endParaRPr sz="1800">
              <a:solidFill>
                <a:schemeClr val="dk2"/>
              </a:solidFill>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35714"/>
              </a:lnSpc>
              <a:spcBef>
                <a:spcPts val="0"/>
              </a:spcBef>
              <a:spcAft>
                <a:spcPts val="0"/>
              </a:spcAft>
              <a:buClr>
                <a:srgbClr val="000000"/>
              </a:buClr>
              <a:buSzPts val="1050"/>
              <a:buFont typeface="Arial"/>
              <a:buNone/>
            </a:pPr>
            <a:r>
              <a:t/>
            </a:r>
            <a:endParaRPr b="0" i="0" sz="1050" u="none" cap="none" strike="noStrike">
              <a:solidFill>
                <a:srgbClr val="008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n-GB" sz="1050" u="none" cap="none" strike="noStrike">
                <a:solidFill>
                  <a:srgbClr val="008000"/>
                </a:solidFill>
                <a:highlight>
                  <a:srgbClr val="F7F7F7"/>
                </a:highlight>
                <a:latin typeface="Courier New"/>
                <a:ea typeface="Courier New"/>
                <a:cs typeface="Courier New"/>
                <a:sym typeface="Courier New"/>
              </a:rPr>
              <a:t> </a:t>
            </a:r>
            <a:endParaRPr b="0" i="0" sz="1050" u="none" cap="none" strike="noStrike">
              <a:solidFill>
                <a:srgbClr val="008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t/>
            </a:r>
            <a:endParaRPr b="0" i="0" sz="1050" u="none" cap="none" strike="noStrike">
              <a:solidFill>
                <a:srgbClr val="008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35714"/>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67" name="Google Shape;67;g345d76767fb_0_35"/>
          <p:cNvPicPr preferRelativeResize="0"/>
          <p:nvPr/>
        </p:nvPicPr>
        <p:blipFill>
          <a:blip r:embed="rId3">
            <a:alphaModFix/>
          </a:blip>
          <a:stretch>
            <a:fillRect/>
          </a:stretch>
        </p:blipFill>
        <p:spPr>
          <a:xfrm>
            <a:off x="782675" y="2036875"/>
            <a:ext cx="7054126" cy="1070825"/>
          </a:xfrm>
          <a:prstGeom prst="rect">
            <a:avLst/>
          </a:prstGeom>
          <a:noFill/>
          <a:ln>
            <a:noFill/>
          </a:ln>
        </p:spPr>
      </p:pic>
      <p:pic>
        <p:nvPicPr>
          <p:cNvPr id="68" name="Google Shape;68;g345d76767fb_0_35"/>
          <p:cNvPicPr preferRelativeResize="0"/>
          <p:nvPr/>
        </p:nvPicPr>
        <p:blipFill>
          <a:blip r:embed="rId4">
            <a:alphaModFix/>
          </a:blip>
          <a:stretch>
            <a:fillRect/>
          </a:stretch>
        </p:blipFill>
        <p:spPr>
          <a:xfrm>
            <a:off x="782675" y="3428575"/>
            <a:ext cx="4143174" cy="1748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3"/>
          <p:cNvSpPr txBox="1"/>
          <p:nvPr/>
        </p:nvSpPr>
        <p:spPr>
          <a:xfrm>
            <a:off x="136125" y="-265200"/>
            <a:ext cx="8952900" cy="434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sz="1800">
              <a:solidFill>
                <a:schemeClr val="dk2"/>
              </a:solidFill>
            </a:endParaRPr>
          </a:p>
          <a:p>
            <a:pPr indent="0" lvl="0" marL="0" marR="0" rtl="0" algn="l">
              <a:lnSpc>
                <a:spcPct val="100000"/>
              </a:lnSpc>
              <a:spcBef>
                <a:spcPts val="0"/>
              </a:spcBef>
              <a:spcAft>
                <a:spcPts val="0"/>
              </a:spcAft>
              <a:buClr>
                <a:srgbClr val="000000"/>
              </a:buClr>
              <a:buSzPts val="1800"/>
              <a:buFont typeface="Arial"/>
              <a:buNone/>
            </a:pPr>
            <a:r>
              <a:rPr lang="en-GB" sz="1800">
                <a:solidFill>
                  <a:schemeClr val="dk1"/>
                </a:solidFill>
              </a:rPr>
              <a:t>Task 1.1: per-feature MSE pattern</a:t>
            </a:r>
            <a:endParaRPr sz="1800">
              <a:solidFill>
                <a:schemeClr val="dk1"/>
              </a:solidFill>
            </a:endParaRPr>
          </a:p>
          <a:p>
            <a:pPr indent="0" lvl="0" marL="365760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Arial"/>
                <a:ea typeface="Arial"/>
                <a:cs typeface="Arial"/>
                <a:sym typeface="Arial"/>
              </a:rPr>
              <a:t>    </a:t>
            </a:r>
            <a:endParaRPr b="0" i="0" sz="1800" u="none" cap="none" strike="noStrike">
              <a:solidFill>
                <a:schemeClr val="dk2"/>
              </a:solidFill>
              <a:latin typeface="Arial"/>
              <a:ea typeface="Arial"/>
              <a:cs typeface="Arial"/>
              <a:sym typeface="Arial"/>
            </a:endParaRPr>
          </a:p>
        </p:txBody>
      </p:sp>
      <p:pic>
        <p:nvPicPr>
          <p:cNvPr id="74" name="Google Shape;74;p3"/>
          <p:cNvPicPr preferRelativeResize="0"/>
          <p:nvPr/>
        </p:nvPicPr>
        <p:blipFill>
          <a:blip r:embed="rId3">
            <a:alphaModFix/>
          </a:blip>
          <a:stretch>
            <a:fillRect/>
          </a:stretch>
        </p:blipFill>
        <p:spPr>
          <a:xfrm>
            <a:off x="208775" y="490700"/>
            <a:ext cx="3518276" cy="3213575"/>
          </a:xfrm>
          <a:prstGeom prst="rect">
            <a:avLst/>
          </a:prstGeom>
          <a:noFill/>
          <a:ln>
            <a:noFill/>
          </a:ln>
        </p:spPr>
      </p:pic>
      <p:pic>
        <p:nvPicPr>
          <p:cNvPr id="75" name="Google Shape;75;p3"/>
          <p:cNvPicPr preferRelativeResize="0"/>
          <p:nvPr/>
        </p:nvPicPr>
        <p:blipFill>
          <a:blip r:embed="rId4">
            <a:alphaModFix/>
          </a:blip>
          <a:stretch>
            <a:fillRect/>
          </a:stretch>
        </p:blipFill>
        <p:spPr>
          <a:xfrm>
            <a:off x="4800600" y="408526"/>
            <a:ext cx="3662800" cy="1987975"/>
          </a:xfrm>
          <a:prstGeom prst="rect">
            <a:avLst/>
          </a:prstGeom>
          <a:noFill/>
          <a:ln>
            <a:noFill/>
          </a:ln>
        </p:spPr>
      </p:pic>
      <p:pic>
        <p:nvPicPr>
          <p:cNvPr id="76" name="Google Shape;76;p3"/>
          <p:cNvPicPr preferRelativeResize="0"/>
          <p:nvPr/>
        </p:nvPicPr>
        <p:blipFill rotWithShape="1">
          <a:blip r:embed="rId5">
            <a:alphaModFix/>
          </a:blip>
          <a:srcRect b="-3018" l="11690" r="-32332" t="0"/>
          <a:stretch/>
        </p:blipFill>
        <p:spPr>
          <a:xfrm>
            <a:off x="4911575" y="2467850"/>
            <a:ext cx="3412951" cy="2087025"/>
          </a:xfrm>
          <a:prstGeom prst="rect">
            <a:avLst/>
          </a:prstGeom>
          <a:noFill/>
          <a:ln>
            <a:noFill/>
          </a:ln>
        </p:spPr>
      </p:pic>
      <p:sp>
        <p:nvSpPr>
          <p:cNvPr id="77" name="Google Shape;77;p3"/>
          <p:cNvSpPr txBox="1"/>
          <p:nvPr/>
        </p:nvSpPr>
        <p:spPr>
          <a:xfrm>
            <a:off x="47700" y="3637425"/>
            <a:ext cx="9048600" cy="86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rPr>
              <a:t>was crucially determined by the </a:t>
            </a:r>
            <a:r>
              <a:rPr b="1" lang="en-GB" sz="1800">
                <a:solidFill>
                  <a:schemeClr val="dk1"/>
                </a:solidFill>
              </a:rPr>
              <a:t>final ReLU</a:t>
            </a:r>
            <a:r>
              <a:rPr lang="en-GB" sz="1800">
                <a:solidFill>
                  <a:schemeClr val="dk1"/>
                </a:solidFill>
              </a:rPr>
              <a:t>,</a:t>
            </a:r>
            <a:endParaRPr sz="1800">
              <a:solidFill>
                <a:schemeClr val="dk1"/>
              </a:solidFill>
            </a:endParaRPr>
          </a:p>
          <a:p>
            <a:pPr indent="0" lvl="0" marL="0" rtl="0" algn="l">
              <a:spcBef>
                <a:spcPts val="0"/>
              </a:spcBef>
              <a:spcAft>
                <a:spcPts val="0"/>
              </a:spcAft>
              <a:buNone/>
            </a:pPr>
            <a:r>
              <a:rPr lang="en-GB" sz="1800">
                <a:solidFill>
                  <a:schemeClr val="dk1"/>
                </a:solidFill>
              </a:rPr>
              <a:t> which sets to zero the negative values! </a:t>
            </a:r>
            <a:endParaRPr sz="1800">
              <a:solidFill>
                <a:schemeClr val="dk1"/>
              </a:solidFill>
            </a:endParaRPr>
          </a:p>
          <a:p>
            <a:pPr indent="0" lvl="0" marL="0" rtl="0" algn="l">
              <a:spcBef>
                <a:spcPts val="0"/>
              </a:spcBef>
              <a:spcAft>
                <a:spcPts val="0"/>
              </a:spcAft>
              <a:buNone/>
            </a:pPr>
            <a:r>
              <a:rPr lang="en-GB" sz="1800">
                <a:solidFill>
                  <a:schemeClr val="dk1"/>
                </a:solidFill>
              </a:rPr>
              <a:t>Many students did not flag up this connection.</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GB" sz="1200">
                <a:solidFill>
                  <a:schemeClr val="dk1"/>
                </a:solidFill>
              </a:rPr>
              <a:t>Feedback given:</a:t>
            </a:r>
            <a:r>
              <a:rPr lang="en-GB" sz="200">
                <a:solidFill>
                  <a:schemeClr val="dk1"/>
                </a:solidFill>
              </a:rPr>
              <a:t>:</a:t>
            </a:r>
            <a:r>
              <a:rPr lang="en-GB" sz="1800">
                <a:solidFill>
                  <a:schemeClr val="dk1"/>
                </a:solidFill>
              </a:rPr>
              <a:t> </a:t>
            </a:r>
            <a:r>
              <a:rPr lang="en-GB" sz="1100">
                <a:solidFill>
                  <a:srgbClr val="38761D"/>
                </a:solidFill>
              </a:rPr>
              <a:t>-1 did not explain the reasons for the MSE values for the first 10 features (i.e., due to their sign and the effect of final ReLU)</a:t>
            </a:r>
            <a:endParaRPr sz="1800">
              <a:solidFill>
                <a:schemeClr val="dk1"/>
              </a:solidFill>
            </a:endParaRPr>
          </a:p>
        </p:txBody>
      </p:sp>
      <p:cxnSp>
        <p:nvCxnSpPr>
          <p:cNvPr id="78" name="Google Shape;78;p3"/>
          <p:cNvCxnSpPr/>
          <p:nvPr/>
        </p:nvCxnSpPr>
        <p:spPr>
          <a:xfrm flipH="1">
            <a:off x="5432950" y="260950"/>
            <a:ext cx="840000" cy="728100"/>
          </a:xfrm>
          <a:prstGeom prst="straightConnector1">
            <a:avLst/>
          </a:prstGeom>
          <a:noFill/>
          <a:ln cap="flat" cmpd="sng" w="9525">
            <a:solidFill>
              <a:schemeClr val="dk2"/>
            </a:solidFill>
            <a:prstDash val="solid"/>
            <a:round/>
            <a:headEnd len="sm" w="sm" type="none"/>
            <a:tailEnd len="med" w="med" type="triangle"/>
          </a:ln>
        </p:spPr>
      </p:cxnSp>
      <p:sp>
        <p:nvSpPr>
          <p:cNvPr id="79" name="Google Shape;79;p3"/>
          <p:cNvSpPr txBox="1"/>
          <p:nvPr/>
        </p:nvSpPr>
        <p:spPr>
          <a:xfrm>
            <a:off x="6096350" y="-47025"/>
            <a:ext cx="2625300" cy="3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Negative thus not well reproduced</a:t>
            </a:r>
            <a:endParaRPr sz="1200">
              <a:solidFill>
                <a:schemeClr val="dk2"/>
              </a:solidFill>
            </a:endParaRPr>
          </a:p>
        </p:txBody>
      </p:sp>
      <p:cxnSp>
        <p:nvCxnSpPr>
          <p:cNvPr id="80" name="Google Shape;80;p3"/>
          <p:cNvCxnSpPr/>
          <p:nvPr/>
        </p:nvCxnSpPr>
        <p:spPr>
          <a:xfrm rot="10800000">
            <a:off x="6557700" y="1724750"/>
            <a:ext cx="695700" cy="571500"/>
          </a:xfrm>
          <a:prstGeom prst="straightConnector1">
            <a:avLst/>
          </a:prstGeom>
          <a:noFill/>
          <a:ln cap="flat" cmpd="sng" w="9525">
            <a:solidFill>
              <a:schemeClr val="dk2"/>
            </a:solidFill>
            <a:prstDash val="solid"/>
            <a:round/>
            <a:headEnd len="sm" w="sm" type="none"/>
            <a:tailEnd len="med" w="med" type="triangle"/>
          </a:ln>
        </p:spPr>
      </p:cxnSp>
      <p:sp>
        <p:nvSpPr>
          <p:cNvPr id="81" name="Google Shape;81;p3"/>
          <p:cNvSpPr txBox="1"/>
          <p:nvPr/>
        </p:nvSpPr>
        <p:spPr>
          <a:xfrm>
            <a:off x="6929350" y="2215275"/>
            <a:ext cx="2625300" cy="3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Positive</a:t>
            </a:r>
            <a:r>
              <a:rPr lang="en-GB" sz="1200">
                <a:solidFill>
                  <a:schemeClr val="dk2"/>
                </a:solidFill>
              </a:rPr>
              <a:t> thus well reproduced</a:t>
            </a:r>
            <a:endParaRPr sz="1200">
              <a:solidFill>
                <a:schemeClr val="dk2"/>
              </a:solidFill>
            </a:endParaRPr>
          </a:p>
        </p:txBody>
      </p:sp>
      <p:cxnSp>
        <p:nvCxnSpPr>
          <p:cNvPr id="82" name="Google Shape;82;p3"/>
          <p:cNvCxnSpPr/>
          <p:nvPr/>
        </p:nvCxnSpPr>
        <p:spPr>
          <a:xfrm rot="10800000">
            <a:off x="6008725" y="3808100"/>
            <a:ext cx="1293300" cy="160500"/>
          </a:xfrm>
          <a:prstGeom prst="straightConnector1">
            <a:avLst/>
          </a:prstGeom>
          <a:noFill/>
          <a:ln cap="flat" cmpd="sng" w="9525">
            <a:solidFill>
              <a:schemeClr val="dk2"/>
            </a:solidFill>
            <a:prstDash val="solid"/>
            <a:round/>
            <a:headEnd len="sm" w="sm" type="none"/>
            <a:tailEnd len="med" w="med" type="triangle"/>
          </a:ln>
        </p:spPr>
      </p:cxnSp>
      <p:sp>
        <p:nvSpPr>
          <p:cNvPr id="83" name="Google Shape;83;p3"/>
          <p:cNvSpPr txBox="1"/>
          <p:nvPr/>
        </p:nvSpPr>
        <p:spPr>
          <a:xfrm>
            <a:off x="7310350" y="3739275"/>
            <a:ext cx="2007300" cy="9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Features 11-100 centred at zero: uniform, intermediate reconstruction quality</a:t>
            </a:r>
            <a:endParaRPr sz="12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45d76767fb_0_0"/>
          <p:cNvSpPr txBox="1"/>
          <p:nvPr>
            <p:ph type="title"/>
          </p:nvPr>
        </p:nvSpPr>
        <p:spPr>
          <a:xfrm>
            <a:off x="34150" y="765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1.2</a:t>
            </a:r>
            <a:endParaRPr/>
          </a:p>
        </p:txBody>
      </p:sp>
      <p:sp>
        <p:nvSpPr>
          <p:cNvPr id="89" name="Google Shape;89;g345d76767fb_0_0"/>
          <p:cNvSpPr txBox="1"/>
          <p:nvPr/>
        </p:nvSpPr>
        <p:spPr>
          <a:xfrm>
            <a:off x="275800" y="906450"/>
            <a:ext cx="8813100" cy="40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GB" sz="1800">
                <a:solidFill>
                  <a:schemeClr val="dk1"/>
                </a:solidFill>
              </a:rPr>
              <a:t>The encoder should have been taken from the autoencoder of 1.1</a:t>
            </a:r>
            <a:endParaRPr sz="1800">
              <a:solidFill>
                <a:schemeClr val="dk1"/>
              </a:solidFill>
            </a:endParaRPr>
          </a:p>
          <a:p>
            <a:pPr indent="0" lvl="0" marL="45720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45720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457200" marR="0" rtl="0" algn="l">
              <a:lnSpc>
                <a:spcPct val="100000"/>
              </a:lnSpc>
              <a:spcBef>
                <a:spcPts val="0"/>
              </a:spcBef>
              <a:spcAft>
                <a:spcPts val="0"/>
              </a:spcAft>
              <a:buClr>
                <a:srgbClr val="000000"/>
              </a:buClr>
              <a:buSzPts val="1800"/>
              <a:buFont typeface="Arial"/>
              <a:buNone/>
            </a:pPr>
            <a:r>
              <a:rPr lang="en-GB" sz="1800">
                <a:solidFill>
                  <a:schemeClr val="dk1"/>
                </a:solidFill>
              </a:rPr>
              <a:t>It should have NOT been re-initialised, or retrained differently!</a:t>
            </a:r>
            <a:endParaRPr sz="1800">
              <a:solidFill>
                <a:schemeClr val="dk1"/>
              </a:solidFill>
            </a:endParaRPr>
          </a:p>
          <a:p>
            <a:pPr indent="0" lvl="0" marL="45720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0" marR="0" rtl="0" algn="l">
              <a:lnSpc>
                <a:spcPct val="100000"/>
              </a:lnSpc>
              <a:spcBef>
                <a:spcPts val="0"/>
              </a:spcBef>
              <a:spcAft>
                <a:spcPts val="0"/>
              </a:spcAft>
              <a:buClr>
                <a:srgbClr val="000000"/>
              </a:buClr>
              <a:buSzPts val="1800"/>
              <a:buFont typeface="Arial"/>
              <a:buNone/>
            </a:pPr>
            <a:r>
              <a:rPr lang="en-GB" sz="1800">
                <a:solidFill>
                  <a:schemeClr val="dk1"/>
                </a:solidFill>
              </a:rPr>
              <a:t>The</a:t>
            </a:r>
            <a:r>
              <a:rPr lang="en-GB" sz="1800">
                <a:solidFill>
                  <a:schemeClr val="dk1"/>
                </a:solidFill>
              </a:rPr>
              <a:t> encoder should have been kept frozen during training: like in this way</a:t>
            </a:r>
            <a:endParaRPr sz="1800">
              <a:solidFill>
                <a:schemeClr val="dk1"/>
              </a:solidFill>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0" marR="0" rtl="0" algn="l">
              <a:lnSpc>
                <a:spcPct val="100000"/>
              </a:lnSpc>
              <a:spcBef>
                <a:spcPts val="0"/>
              </a:spcBef>
              <a:spcAft>
                <a:spcPts val="0"/>
              </a:spcAft>
              <a:buClr>
                <a:srgbClr val="000000"/>
              </a:buClr>
              <a:buSzPts val="1800"/>
              <a:buFont typeface="Arial"/>
              <a:buNone/>
            </a:pPr>
            <a:r>
              <a:rPr lang="en-GB" sz="1800">
                <a:solidFill>
                  <a:schemeClr val="dk1"/>
                </a:solidFill>
              </a:rPr>
              <a:t>Or, alternatively, you could have given the encoder’s output as input to the regressor</a:t>
            </a:r>
            <a:endParaRPr sz="1800">
              <a:solidFill>
                <a:schemeClr val="dk1"/>
              </a:solidFill>
            </a:endParaRPr>
          </a:p>
          <a:p>
            <a:pPr indent="0" lvl="0" marL="457200" marR="0" rtl="0" algn="l">
              <a:lnSpc>
                <a:spcPct val="100000"/>
              </a:lnSpc>
              <a:spcBef>
                <a:spcPts val="0"/>
              </a:spcBef>
              <a:spcAft>
                <a:spcPts val="0"/>
              </a:spcAft>
              <a:buClr>
                <a:srgbClr val="000000"/>
              </a:buClr>
              <a:buSzPts val="1800"/>
              <a:buFont typeface="Arial"/>
              <a:buNone/>
            </a:pPr>
            <a:r>
              <a:t/>
            </a:r>
            <a:endParaRPr sz="1800">
              <a:solidFill>
                <a:schemeClr val="dk1"/>
              </a:solidFill>
            </a:endParaRPr>
          </a:p>
        </p:txBody>
      </p:sp>
      <p:pic>
        <p:nvPicPr>
          <p:cNvPr id="90" name="Google Shape;90;g345d76767fb_0_0"/>
          <p:cNvPicPr preferRelativeResize="0"/>
          <p:nvPr/>
        </p:nvPicPr>
        <p:blipFill>
          <a:blip r:embed="rId3">
            <a:alphaModFix/>
          </a:blip>
          <a:stretch>
            <a:fillRect/>
          </a:stretch>
        </p:blipFill>
        <p:spPr>
          <a:xfrm>
            <a:off x="846538" y="1338300"/>
            <a:ext cx="4002586" cy="428100"/>
          </a:xfrm>
          <a:prstGeom prst="rect">
            <a:avLst/>
          </a:prstGeom>
          <a:noFill/>
          <a:ln>
            <a:noFill/>
          </a:ln>
        </p:spPr>
      </p:pic>
      <p:cxnSp>
        <p:nvCxnSpPr>
          <p:cNvPr id="91" name="Google Shape;91;g345d76767fb_0_0"/>
          <p:cNvCxnSpPr/>
          <p:nvPr/>
        </p:nvCxnSpPr>
        <p:spPr>
          <a:xfrm flipH="1">
            <a:off x="3389600" y="991650"/>
            <a:ext cx="706200" cy="428100"/>
          </a:xfrm>
          <a:prstGeom prst="straightConnector1">
            <a:avLst/>
          </a:prstGeom>
          <a:noFill/>
          <a:ln cap="flat" cmpd="sng" w="9525">
            <a:solidFill>
              <a:schemeClr val="dk2"/>
            </a:solidFill>
            <a:prstDash val="solid"/>
            <a:round/>
            <a:headEnd len="sm" w="sm" type="none"/>
            <a:tailEnd len="med" w="med" type="triangle"/>
          </a:ln>
        </p:spPr>
      </p:cxnSp>
      <p:sp>
        <p:nvSpPr>
          <p:cNvPr id="92" name="Google Shape;92;g345d76767fb_0_0"/>
          <p:cNvSpPr txBox="1"/>
          <p:nvPr/>
        </p:nvSpPr>
        <p:spPr>
          <a:xfrm>
            <a:off x="3950725" y="688750"/>
            <a:ext cx="18183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FF0000"/>
                </a:solidFill>
              </a:rPr>
              <a:t>From 1.1</a:t>
            </a:r>
            <a:endParaRPr sz="1300">
              <a:solidFill>
                <a:srgbClr val="FF0000"/>
              </a:solidFill>
            </a:endParaRPr>
          </a:p>
        </p:txBody>
      </p:sp>
      <p:pic>
        <p:nvPicPr>
          <p:cNvPr id="93" name="Google Shape;93;g345d76767fb_0_0"/>
          <p:cNvPicPr preferRelativeResize="0"/>
          <p:nvPr/>
        </p:nvPicPr>
        <p:blipFill>
          <a:blip r:embed="rId4">
            <a:alphaModFix/>
          </a:blip>
          <a:stretch>
            <a:fillRect/>
          </a:stretch>
        </p:blipFill>
        <p:spPr>
          <a:xfrm>
            <a:off x="846550" y="2740693"/>
            <a:ext cx="5124400" cy="1688231"/>
          </a:xfrm>
          <a:prstGeom prst="rect">
            <a:avLst/>
          </a:prstGeom>
          <a:noFill/>
          <a:ln>
            <a:noFill/>
          </a:ln>
        </p:spPr>
      </p:pic>
      <p:cxnSp>
        <p:nvCxnSpPr>
          <p:cNvPr id="94" name="Google Shape;94;g345d76767fb_0_0"/>
          <p:cNvCxnSpPr/>
          <p:nvPr/>
        </p:nvCxnSpPr>
        <p:spPr>
          <a:xfrm flipH="1">
            <a:off x="3824025" y="2634950"/>
            <a:ext cx="2641800" cy="13194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45d76767fb_0_11"/>
          <p:cNvSpPr txBox="1"/>
          <p:nvPr>
            <p:ph type="title"/>
          </p:nvPr>
        </p:nvSpPr>
        <p:spPr>
          <a:xfrm>
            <a:off x="34150" y="765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1.2</a:t>
            </a:r>
            <a:endParaRPr/>
          </a:p>
        </p:txBody>
      </p:sp>
      <p:sp>
        <p:nvSpPr>
          <p:cNvPr id="100" name="Google Shape;100;g345d76767fb_0_11"/>
          <p:cNvSpPr txBox="1"/>
          <p:nvPr/>
        </p:nvSpPr>
        <p:spPr>
          <a:xfrm>
            <a:off x="275800" y="906450"/>
            <a:ext cx="8813100" cy="40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GB" sz="1800">
                <a:solidFill>
                  <a:schemeClr val="dk1"/>
                </a:solidFill>
              </a:rPr>
              <a:t>For the MSE of regression, it was important to check the arguments’ shape</a:t>
            </a:r>
            <a:endParaRPr sz="1800">
              <a:solidFill>
                <a:schemeClr val="dk1"/>
              </a:solidFill>
            </a:endParaRPr>
          </a:p>
          <a:p>
            <a:pPr indent="0" lvl="0" marL="45720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endParaRPr>
          </a:p>
        </p:txBody>
      </p:sp>
      <p:sp>
        <p:nvSpPr>
          <p:cNvPr id="101" name="Google Shape;101;g345d76767fb_0_11"/>
          <p:cNvSpPr txBox="1"/>
          <p:nvPr/>
        </p:nvSpPr>
        <p:spPr>
          <a:xfrm>
            <a:off x="6810475" y="1267350"/>
            <a:ext cx="18183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FF0000"/>
                </a:solidFill>
              </a:rPr>
              <a:t>See here for example</a:t>
            </a:r>
            <a:endParaRPr sz="1300">
              <a:solidFill>
                <a:srgbClr val="FF0000"/>
              </a:solidFill>
            </a:endParaRPr>
          </a:p>
        </p:txBody>
      </p:sp>
      <p:pic>
        <p:nvPicPr>
          <p:cNvPr id="102" name="Google Shape;102;g345d76767fb_0_11"/>
          <p:cNvPicPr preferRelativeResize="0"/>
          <p:nvPr/>
        </p:nvPicPr>
        <p:blipFill>
          <a:blip r:embed="rId3">
            <a:alphaModFix/>
          </a:blip>
          <a:stretch>
            <a:fillRect/>
          </a:stretch>
        </p:blipFill>
        <p:spPr>
          <a:xfrm>
            <a:off x="369475" y="1355453"/>
            <a:ext cx="6441001" cy="1142425"/>
          </a:xfrm>
          <a:prstGeom prst="rect">
            <a:avLst/>
          </a:prstGeom>
          <a:noFill/>
          <a:ln>
            <a:noFill/>
          </a:ln>
        </p:spPr>
      </p:pic>
      <p:cxnSp>
        <p:nvCxnSpPr>
          <p:cNvPr id="103" name="Google Shape;103;g345d76767fb_0_11"/>
          <p:cNvCxnSpPr/>
          <p:nvPr/>
        </p:nvCxnSpPr>
        <p:spPr>
          <a:xfrm flipH="1">
            <a:off x="5250500" y="1575025"/>
            <a:ext cx="1878900" cy="632100"/>
          </a:xfrm>
          <a:prstGeom prst="straightConnector1">
            <a:avLst/>
          </a:prstGeom>
          <a:noFill/>
          <a:ln cap="flat" cmpd="sng" w="9525">
            <a:solidFill>
              <a:schemeClr val="dk2"/>
            </a:solidFill>
            <a:prstDash val="solid"/>
            <a:round/>
            <a:headEnd len="sm" w="sm" type="none"/>
            <a:tailEnd len="med" w="med" type="triangle"/>
          </a:ln>
        </p:spPr>
      </p:cxnSp>
      <p:pic>
        <p:nvPicPr>
          <p:cNvPr id="104" name="Google Shape;104;g345d76767fb_0_11"/>
          <p:cNvPicPr preferRelativeResize="0"/>
          <p:nvPr/>
        </p:nvPicPr>
        <p:blipFill>
          <a:blip r:embed="rId4">
            <a:alphaModFix/>
          </a:blip>
          <a:stretch>
            <a:fillRect/>
          </a:stretch>
        </p:blipFill>
        <p:spPr>
          <a:xfrm>
            <a:off x="438315" y="2750670"/>
            <a:ext cx="2031779" cy="1945550"/>
          </a:xfrm>
          <a:prstGeom prst="rect">
            <a:avLst/>
          </a:prstGeom>
          <a:noFill/>
          <a:ln>
            <a:noFill/>
          </a:ln>
        </p:spPr>
      </p:pic>
      <p:sp>
        <p:nvSpPr>
          <p:cNvPr id="105" name="Google Shape;105;g345d76767fb_0_11"/>
          <p:cNvSpPr txBox="1"/>
          <p:nvPr/>
        </p:nvSpPr>
        <p:spPr>
          <a:xfrm>
            <a:off x="2673850" y="2771075"/>
            <a:ext cx="2994600" cy="86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rPr>
              <a:t>Different from:</a:t>
            </a:r>
            <a:endParaRPr sz="1800">
              <a:solidFill>
                <a:schemeClr val="dk1"/>
              </a:solidFill>
            </a:endParaRPr>
          </a:p>
        </p:txBody>
      </p:sp>
      <p:pic>
        <p:nvPicPr>
          <p:cNvPr id="106" name="Google Shape;106;g345d76767fb_0_11"/>
          <p:cNvPicPr preferRelativeResize="0"/>
          <p:nvPr/>
        </p:nvPicPr>
        <p:blipFill>
          <a:blip r:embed="rId5">
            <a:alphaModFix/>
          </a:blip>
          <a:stretch>
            <a:fillRect/>
          </a:stretch>
        </p:blipFill>
        <p:spPr>
          <a:xfrm>
            <a:off x="4268225" y="2796424"/>
            <a:ext cx="3033800" cy="1715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45d76767fb_0_42"/>
          <p:cNvSpPr txBox="1"/>
          <p:nvPr>
            <p:ph type="title"/>
          </p:nvPr>
        </p:nvSpPr>
        <p:spPr>
          <a:xfrm>
            <a:off x="81400" y="765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1 - MSc</a:t>
            </a:r>
            <a:endParaRPr/>
          </a:p>
        </p:txBody>
      </p:sp>
      <p:sp>
        <p:nvSpPr>
          <p:cNvPr id="112" name="Google Shape;112;g345d76767fb_0_42"/>
          <p:cNvSpPr txBox="1"/>
          <p:nvPr/>
        </p:nvSpPr>
        <p:spPr>
          <a:xfrm>
            <a:off x="199600" y="890525"/>
            <a:ext cx="8813100" cy="40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GB" sz="1800" u="none" cap="none" strike="noStrike">
                <a:solidFill>
                  <a:schemeClr val="dk1"/>
                </a:solidFill>
                <a:latin typeface="Arial"/>
                <a:ea typeface="Arial"/>
                <a:cs typeface="Arial"/>
                <a:sym typeface="Arial"/>
              </a:rPr>
              <a:t>Task 1 was generally very well answered</a:t>
            </a:r>
            <a:r>
              <a:rPr lang="en-GB" sz="1800">
                <a:solidFill>
                  <a:schemeClr val="dk1"/>
                </a:solidFill>
              </a:rPr>
              <a:t>, well done!</a:t>
            </a:r>
            <a:endParaRPr sz="1800">
              <a:solidFill>
                <a:schemeClr val="dk1"/>
              </a:solidFill>
            </a:endParaRPr>
          </a:p>
          <a:p>
            <a:pPr indent="0" lvl="0" marL="0" marR="0" rtl="0" algn="l">
              <a:lnSpc>
                <a:spcPct val="100000"/>
              </a:lnSpc>
              <a:spcBef>
                <a:spcPts val="0"/>
              </a:spcBef>
              <a:spcAft>
                <a:spcPts val="0"/>
              </a:spcAft>
              <a:buNone/>
            </a:pPr>
            <a:r>
              <a:t/>
            </a:r>
            <a:endParaRPr sz="1800">
              <a:solidFill>
                <a:schemeClr val="dk1"/>
              </a:solidFill>
            </a:endParaRPr>
          </a:p>
          <a:p>
            <a:pPr indent="0" lvl="0" marL="0" marR="0" rtl="0" algn="l">
              <a:lnSpc>
                <a:spcPct val="100000"/>
              </a:lnSpc>
              <a:spcBef>
                <a:spcPts val="0"/>
              </a:spcBef>
              <a:spcAft>
                <a:spcPts val="0"/>
              </a:spcAft>
              <a:buNone/>
            </a:pPr>
            <a:r>
              <a:rPr lang="en-GB" sz="1800">
                <a:solidFill>
                  <a:schemeClr val="dk1"/>
                </a:solidFill>
              </a:rPr>
              <a:t>Here we provide a few clarifications on some common mistake or missed analysis</a:t>
            </a:r>
            <a:endParaRPr sz="1800">
              <a:solidFill>
                <a:schemeClr val="dk1"/>
              </a:solidFill>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35714"/>
              </a:lnSpc>
              <a:spcBef>
                <a:spcPts val="0"/>
              </a:spcBef>
              <a:spcAft>
                <a:spcPts val="0"/>
              </a:spcAft>
              <a:buClr>
                <a:srgbClr val="000000"/>
              </a:buClr>
              <a:buSzPts val="1050"/>
              <a:buFont typeface="Arial"/>
              <a:buNone/>
            </a:pPr>
            <a:r>
              <a:t/>
            </a:r>
            <a:endParaRPr b="0" i="0" sz="1050" u="none" cap="none" strike="noStrike">
              <a:solidFill>
                <a:schemeClr val="dk1"/>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n-GB" sz="1050" u="none" cap="none" strike="noStrike">
                <a:solidFill>
                  <a:schemeClr val="dk1"/>
                </a:solidFill>
                <a:highlight>
                  <a:srgbClr val="F7F7F7"/>
                </a:highlight>
                <a:latin typeface="Courier New"/>
                <a:ea typeface="Courier New"/>
                <a:cs typeface="Courier New"/>
                <a:sym typeface="Courier New"/>
              </a:rPr>
              <a:t> </a:t>
            </a:r>
            <a:endParaRPr b="0" i="0" sz="1050" u="none" cap="none" strike="noStrike">
              <a:solidFill>
                <a:schemeClr val="dk1"/>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t/>
            </a:r>
            <a:endParaRPr b="0" i="0" sz="1050" u="none" cap="none" strike="noStrike">
              <a:solidFill>
                <a:schemeClr val="dk1"/>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35714"/>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45d76767fb_0_47"/>
          <p:cNvSpPr txBox="1"/>
          <p:nvPr>
            <p:ph type="title"/>
          </p:nvPr>
        </p:nvSpPr>
        <p:spPr>
          <a:xfrm>
            <a:off x="81400" y="765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1.1</a:t>
            </a:r>
            <a:endParaRPr/>
          </a:p>
        </p:txBody>
      </p:sp>
      <p:sp>
        <p:nvSpPr>
          <p:cNvPr id="118" name="Google Shape;118;g345d76767fb_0_47"/>
          <p:cNvSpPr txBox="1"/>
          <p:nvPr/>
        </p:nvSpPr>
        <p:spPr>
          <a:xfrm>
            <a:off x="199600" y="890525"/>
            <a:ext cx="8813100" cy="40842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None/>
            </a:pPr>
            <a:r>
              <a:rPr lang="en-GB" sz="1800">
                <a:solidFill>
                  <a:schemeClr val="dk1"/>
                </a:solidFill>
              </a:rPr>
              <a:t>The default MSELoss() in Torch did not give exactly the MSE we asked for, because it averages both over features and samples, while our MSE is averaged over samples only (it was clearly still good as training objective function!) </a:t>
            </a:r>
            <a:endParaRPr sz="1800">
              <a:solidFill>
                <a:schemeClr val="dk1"/>
              </a:solidFill>
            </a:endParaRPr>
          </a:p>
          <a:p>
            <a:pPr indent="0" lvl="0" marL="457200" marR="0" rtl="0" algn="l">
              <a:lnSpc>
                <a:spcPct val="100000"/>
              </a:lnSpc>
              <a:spcBef>
                <a:spcPts val="0"/>
              </a:spcBef>
              <a:spcAft>
                <a:spcPts val="0"/>
              </a:spcAft>
              <a:buNone/>
            </a:pPr>
            <a:r>
              <a:rPr lang="en-GB">
                <a:solidFill>
                  <a:schemeClr val="dk1"/>
                </a:solidFill>
              </a:rPr>
              <a:t>One could have defined a custom MSE function:</a:t>
            </a:r>
            <a:endParaRPr>
              <a:solidFill>
                <a:schemeClr val="dk1"/>
              </a:solidFill>
            </a:endParaRPr>
          </a:p>
          <a:p>
            <a:pPr indent="0" lvl="0" marL="457200" marR="0" rtl="0" algn="l">
              <a:lnSpc>
                <a:spcPct val="100000"/>
              </a:lnSpc>
              <a:spcBef>
                <a:spcPts val="0"/>
              </a:spcBef>
              <a:spcAft>
                <a:spcPts val="0"/>
              </a:spcAft>
              <a:buNone/>
            </a:pPr>
            <a:r>
              <a:t/>
            </a:r>
            <a:endParaRPr sz="1800">
              <a:solidFill>
                <a:schemeClr val="dk1"/>
              </a:solidFill>
            </a:endParaRPr>
          </a:p>
          <a:p>
            <a:pPr indent="0" lvl="0" marL="457200" marR="0" rtl="0" algn="l">
              <a:lnSpc>
                <a:spcPct val="100000"/>
              </a:lnSpc>
              <a:spcBef>
                <a:spcPts val="0"/>
              </a:spcBef>
              <a:spcAft>
                <a:spcPts val="0"/>
              </a:spcAft>
              <a:buNone/>
            </a:pPr>
            <a:r>
              <a:t/>
            </a:r>
            <a:endParaRPr sz="1800">
              <a:solidFill>
                <a:schemeClr val="dk1"/>
              </a:solidFill>
            </a:endParaRPr>
          </a:p>
          <a:p>
            <a:pPr indent="0" lvl="0" marL="457200" marR="0" rtl="0" algn="l">
              <a:lnSpc>
                <a:spcPct val="100000"/>
              </a:lnSpc>
              <a:spcBef>
                <a:spcPts val="0"/>
              </a:spcBef>
              <a:spcAft>
                <a:spcPts val="0"/>
              </a:spcAft>
              <a:buNone/>
            </a:pPr>
            <a:r>
              <a:t/>
            </a:r>
            <a:endParaRPr sz="1800">
              <a:solidFill>
                <a:schemeClr val="dk1"/>
              </a:solidFill>
            </a:endParaRPr>
          </a:p>
          <a:p>
            <a:pPr indent="0" lvl="0" marL="0" marR="0" rtl="0" algn="l">
              <a:lnSpc>
                <a:spcPct val="100000"/>
              </a:lnSpc>
              <a:spcBef>
                <a:spcPts val="0"/>
              </a:spcBef>
              <a:spcAft>
                <a:spcPts val="0"/>
              </a:spcAft>
              <a:buNone/>
            </a:pPr>
            <a:r>
              <a:t/>
            </a:r>
            <a:endParaRPr sz="1800">
              <a:solidFill>
                <a:schemeClr val="dk1"/>
              </a:solidFill>
            </a:endParaRPr>
          </a:p>
          <a:p>
            <a:pPr indent="0" lvl="0" marL="457200" marR="0" rtl="0" algn="l">
              <a:lnSpc>
                <a:spcPct val="100000"/>
              </a:lnSpc>
              <a:spcBef>
                <a:spcPts val="0"/>
              </a:spcBef>
              <a:spcAft>
                <a:spcPts val="0"/>
              </a:spcAft>
              <a:buNone/>
            </a:pPr>
            <a:r>
              <a:rPr lang="en-GB">
                <a:solidFill>
                  <a:schemeClr val="dk1"/>
                </a:solidFill>
              </a:rPr>
              <a:t>Or used the option reduction = ‘sum’</a:t>
            </a:r>
            <a:endParaRPr>
              <a:solidFill>
                <a:schemeClr val="dk1"/>
              </a:solidFill>
            </a:endParaRPr>
          </a:p>
          <a:p>
            <a:pPr indent="0" lvl="0" marL="457200" marR="0" rtl="0" algn="l">
              <a:lnSpc>
                <a:spcPct val="100000"/>
              </a:lnSpc>
              <a:spcBef>
                <a:spcPts val="0"/>
              </a:spcBef>
              <a:spcAft>
                <a:spcPts val="0"/>
              </a:spcAft>
              <a:buNone/>
            </a:pPr>
            <a:r>
              <a:t/>
            </a:r>
            <a:endParaRPr sz="1800">
              <a:solidFill>
                <a:schemeClr val="dk2"/>
              </a:solidFill>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35714"/>
              </a:lnSpc>
              <a:spcBef>
                <a:spcPts val="0"/>
              </a:spcBef>
              <a:spcAft>
                <a:spcPts val="0"/>
              </a:spcAft>
              <a:buClr>
                <a:srgbClr val="000000"/>
              </a:buClr>
              <a:buSzPts val="1050"/>
              <a:buFont typeface="Arial"/>
              <a:buNone/>
            </a:pPr>
            <a:r>
              <a:t/>
            </a:r>
            <a:endParaRPr b="0" i="0" sz="1050" u="none" cap="none" strike="noStrike">
              <a:solidFill>
                <a:srgbClr val="008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n-GB" sz="1050" u="none" cap="none" strike="noStrike">
                <a:solidFill>
                  <a:srgbClr val="008000"/>
                </a:solidFill>
                <a:highlight>
                  <a:srgbClr val="F7F7F7"/>
                </a:highlight>
                <a:latin typeface="Courier New"/>
                <a:ea typeface="Courier New"/>
                <a:cs typeface="Courier New"/>
                <a:sym typeface="Courier New"/>
              </a:rPr>
              <a:t> </a:t>
            </a:r>
            <a:endParaRPr b="0" i="0" sz="1050" u="none" cap="none" strike="noStrike">
              <a:solidFill>
                <a:srgbClr val="008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t/>
            </a:r>
            <a:endParaRPr b="0" i="0" sz="1050" u="none" cap="none" strike="noStrike">
              <a:solidFill>
                <a:srgbClr val="008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35714"/>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119" name="Google Shape;119;g345d76767fb_0_47"/>
          <p:cNvPicPr preferRelativeResize="0"/>
          <p:nvPr/>
        </p:nvPicPr>
        <p:blipFill>
          <a:blip r:embed="rId3">
            <a:alphaModFix/>
          </a:blip>
          <a:stretch>
            <a:fillRect/>
          </a:stretch>
        </p:blipFill>
        <p:spPr>
          <a:xfrm>
            <a:off x="782675" y="2036875"/>
            <a:ext cx="7054126" cy="1070825"/>
          </a:xfrm>
          <a:prstGeom prst="rect">
            <a:avLst/>
          </a:prstGeom>
          <a:noFill/>
          <a:ln>
            <a:noFill/>
          </a:ln>
        </p:spPr>
      </p:pic>
      <p:pic>
        <p:nvPicPr>
          <p:cNvPr id="120" name="Google Shape;120;g345d76767fb_0_47"/>
          <p:cNvPicPr preferRelativeResize="0"/>
          <p:nvPr/>
        </p:nvPicPr>
        <p:blipFill>
          <a:blip r:embed="rId4">
            <a:alphaModFix/>
          </a:blip>
          <a:stretch>
            <a:fillRect/>
          </a:stretch>
        </p:blipFill>
        <p:spPr>
          <a:xfrm>
            <a:off x="782675" y="3428575"/>
            <a:ext cx="4143174" cy="1748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4a4efbda98_0_1"/>
          <p:cNvSpPr txBox="1"/>
          <p:nvPr>
            <p:ph type="title"/>
          </p:nvPr>
        </p:nvSpPr>
        <p:spPr>
          <a:xfrm>
            <a:off x="81400" y="765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2.1: </a:t>
            </a:r>
            <a:endParaRPr/>
          </a:p>
        </p:txBody>
      </p:sp>
      <p:sp>
        <p:nvSpPr>
          <p:cNvPr id="126" name="Google Shape;126;g34a4efbda98_0_1"/>
          <p:cNvSpPr txBox="1"/>
          <p:nvPr/>
        </p:nvSpPr>
        <p:spPr>
          <a:xfrm>
            <a:off x="107475" y="690925"/>
            <a:ext cx="8935800" cy="44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600">
                <a:solidFill>
                  <a:schemeClr val="dk1"/>
                </a:solidFill>
              </a:rPr>
              <a:t>Task 2 was generally very well answered, well done!</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rPr lang="en-GB" sz="1600">
                <a:solidFill>
                  <a:schemeClr val="dk1"/>
                </a:solidFill>
              </a:rPr>
              <a:t>One of the most common issues was that the i</a:t>
            </a:r>
            <a:r>
              <a:rPr lang="en-GB" sz="1600">
                <a:solidFill>
                  <a:schemeClr val="dk1"/>
                </a:solidFill>
              </a:rPr>
              <a:t>mplementation of n(delta) often used facts not known from the lecture, hence we expected additional justification. What knew f</a:t>
            </a:r>
            <a:r>
              <a:rPr lang="en-GB" sz="1600">
                <a:solidFill>
                  <a:schemeClr val="dk1"/>
                </a:solidFill>
              </a:rPr>
              <a:t>rom the lectures</a:t>
            </a:r>
            <a:r>
              <a:rPr lang="en-GB" sz="1600">
                <a:solidFill>
                  <a:schemeClr val="dk1"/>
                </a:solidFill>
              </a:rPr>
              <a:t> was that the number of components in a graph is given by the algebraic multiplicity of the 0 eigenvalue of the symmetric normalised Laplacian:</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p:txBody>
      </p:sp>
      <p:pic>
        <p:nvPicPr>
          <p:cNvPr id="127" name="Google Shape;127;g34a4efbda98_0_1"/>
          <p:cNvPicPr preferRelativeResize="0"/>
          <p:nvPr/>
        </p:nvPicPr>
        <p:blipFill>
          <a:blip r:embed="rId3">
            <a:alphaModFix/>
          </a:blip>
          <a:stretch>
            <a:fillRect/>
          </a:stretch>
        </p:blipFill>
        <p:spPr>
          <a:xfrm>
            <a:off x="1580913" y="2553746"/>
            <a:ext cx="5521576" cy="2133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4a5897155b_0_0"/>
          <p:cNvSpPr txBox="1"/>
          <p:nvPr>
            <p:ph type="title"/>
          </p:nvPr>
        </p:nvSpPr>
        <p:spPr>
          <a:xfrm>
            <a:off x="81400" y="765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2.1: </a:t>
            </a:r>
            <a:endParaRPr/>
          </a:p>
        </p:txBody>
      </p:sp>
      <p:sp>
        <p:nvSpPr>
          <p:cNvPr id="133" name="Google Shape;133;g34a5897155b_0_0"/>
          <p:cNvSpPr txBox="1"/>
          <p:nvPr/>
        </p:nvSpPr>
        <p:spPr>
          <a:xfrm>
            <a:off x="107475" y="690925"/>
            <a:ext cx="8935800" cy="445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GB" sz="1600">
                <a:solidFill>
                  <a:schemeClr val="dk1"/>
                </a:solidFill>
              </a:rPr>
              <a:t>It was also important to evaluate n(delta) and s(delta) over the correct range of deltas, roughly from 0.9606 to 1, see</a:t>
            </a:r>
            <a:r>
              <a:rPr lang="en-GB" sz="1600">
                <a:solidFill>
                  <a:schemeClr val="dk1"/>
                </a:solidFill>
                <a:extLst>
                  <a:ext uri="http://customooxmlschemas.google.com/">
                    <go:slidesCustomData xmlns:go="http://customooxmlschemas.google.com/" textRoundtripDataId="0"/>
                  </a:ext>
                </a:extLst>
              </a:rPr>
              <a:t> example plots below:</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p:txBody>
      </p:sp>
      <p:pic>
        <p:nvPicPr>
          <p:cNvPr id="134" name="Google Shape;134;g34a5897155b_0_0"/>
          <p:cNvPicPr preferRelativeResize="0"/>
          <p:nvPr/>
        </p:nvPicPr>
        <p:blipFill>
          <a:blip r:embed="rId3">
            <a:alphaModFix/>
          </a:blip>
          <a:stretch>
            <a:fillRect/>
          </a:stretch>
        </p:blipFill>
        <p:spPr>
          <a:xfrm>
            <a:off x="1912013" y="1466950"/>
            <a:ext cx="5326724" cy="3440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4a4efbda98_0_9"/>
          <p:cNvSpPr txBox="1"/>
          <p:nvPr>
            <p:ph type="title"/>
          </p:nvPr>
        </p:nvSpPr>
        <p:spPr>
          <a:xfrm>
            <a:off x="81400" y="765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2.1: </a:t>
            </a:r>
            <a:endParaRPr/>
          </a:p>
        </p:txBody>
      </p:sp>
      <p:sp>
        <p:nvSpPr>
          <p:cNvPr id="140" name="Google Shape;140;g34a4efbda98_0_9"/>
          <p:cNvSpPr txBox="1"/>
          <p:nvPr/>
        </p:nvSpPr>
        <p:spPr>
          <a:xfrm>
            <a:off x="107475" y="690925"/>
            <a:ext cx="8935800" cy="445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GB" sz="1600">
                <a:solidFill>
                  <a:schemeClr val="dk1"/>
                </a:solidFill>
              </a:rPr>
              <a:t>The discussion of the spectral layout was generally well done:</a:t>
            </a:r>
            <a:br>
              <a:rPr lang="en-GB" sz="1600">
                <a:solidFill>
                  <a:schemeClr val="dk2"/>
                </a:solidFill>
              </a:rPr>
            </a:br>
            <a:br>
              <a:rPr lang="en-GB" sz="1600">
                <a:solidFill>
                  <a:schemeClr val="dk2"/>
                </a:solidFill>
              </a:rPr>
            </a:br>
            <a:br>
              <a:rPr lang="en-GB" sz="1600">
                <a:solidFill>
                  <a:schemeClr val="dk2"/>
                </a:solidFill>
              </a:rPr>
            </a:br>
            <a:br>
              <a:rPr lang="en-GB" sz="1600">
                <a:solidFill>
                  <a:schemeClr val="dk2"/>
                </a:solidFill>
              </a:rPr>
            </a:br>
            <a:br>
              <a:rPr lang="en-GB" sz="1600">
                <a:solidFill>
                  <a:schemeClr val="dk2"/>
                </a:solidFill>
              </a:rPr>
            </a:br>
            <a:br>
              <a:rPr lang="en-GB" sz="1600">
                <a:solidFill>
                  <a:schemeClr val="dk2"/>
                </a:solidFill>
              </a:rPr>
            </a:br>
            <a:br>
              <a:rPr lang="en-GB" sz="1600">
                <a:solidFill>
                  <a:schemeClr val="dk2"/>
                </a:solidFill>
              </a:rPr>
            </a:br>
            <a:br>
              <a:rPr lang="en-GB" sz="1600">
                <a:solidFill>
                  <a:schemeClr val="dk2"/>
                </a:solidFill>
              </a:rPr>
            </a:br>
            <a:br>
              <a:rPr lang="en-GB" sz="1600">
                <a:solidFill>
                  <a:schemeClr val="dk2"/>
                </a:solidFill>
              </a:rPr>
            </a:br>
            <a:br>
              <a:rPr lang="en-GB" sz="1600">
                <a:solidFill>
                  <a:schemeClr val="dk2"/>
                </a:solidFill>
              </a:rPr>
            </a:br>
            <a:br>
              <a:rPr lang="en-GB" sz="1600">
                <a:solidFill>
                  <a:schemeClr val="dk2"/>
                </a:solidFill>
              </a:rPr>
            </a:br>
            <a:r>
              <a:rPr lang="en-GB" sz="1600">
                <a:solidFill>
                  <a:schemeClr val="dk1"/>
                </a:solidFill>
              </a:rPr>
              <a:t>We </a:t>
            </a:r>
            <a:r>
              <a:rPr lang="en-GB" sz="1600">
                <a:solidFill>
                  <a:schemeClr val="dk1"/>
                </a:solidFill>
              </a:rPr>
              <a:t>expected</a:t>
            </a:r>
            <a:r>
              <a:rPr lang="en-GB" sz="1600">
                <a:solidFill>
                  <a:schemeClr val="dk1"/>
                </a:solidFill>
              </a:rPr>
              <a:t> to hear that nodes with treatment=1 are clearly separated from the other nodes and that they form a more densely connected subgraph.</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rPr lang="en-GB" sz="1600">
                <a:solidFill>
                  <a:schemeClr val="dk1"/>
                </a:solidFill>
              </a:rPr>
              <a:t>As an explanation we expected to hear that the treatment induces more similar gene expression for the nodes with treatment=1, leading to higher cosine similarities and more edges between nodes with treatment=1.</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p:txBody>
      </p:sp>
      <p:pic>
        <p:nvPicPr>
          <p:cNvPr id="141" name="Google Shape;141;g34a4efbda98_0_9"/>
          <p:cNvPicPr preferRelativeResize="0"/>
          <p:nvPr/>
        </p:nvPicPr>
        <p:blipFill>
          <a:blip r:embed="rId3">
            <a:alphaModFix/>
          </a:blip>
          <a:stretch>
            <a:fillRect/>
          </a:stretch>
        </p:blipFill>
        <p:spPr>
          <a:xfrm>
            <a:off x="3034250" y="1187725"/>
            <a:ext cx="3075501" cy="2136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4a4efbda98_0_17"/>
          <p:cNvSpPr txBox="1"/>
          <p:nvPr>
            <p:ph type="title"/>
          </p:nvPr>
        </p:nvSpPr>
        <p:spPr>
          <a:xfrm>
            <a:off x="81400" y="765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2.2: </a:t>
            </a:r>
            <a:endParaRPr/>
          </a:p>
        </p:txBody>
      </p:sp>
      <p:sp>
        <p:nvSpPr>
          <p:cNvPr id="147" name="Google Shape;147;g34a4efbda98_0_17"/>
          <p:cNvSpPr txBox="1"/>
          <p:nvPr/>
        </p:nvSpPr>
        <p:spPr>
          <a:xfrm>
            <a:off x="107475" y="690925"/>
            <a:ext cx="8935800" cy="445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GB" sz="1600">
                <a:solidFill>
                  <a:schemeClr val="accent2"/>
                </a:solidFill>
              </a:rPr>
              <a:t>The degree centrality has to be normalised according to the formula given in the lecture notes.</a:t>
            </a:r>
            <a:endParaRPr sz="1600">
              <a:solidFill>
                <a:schemeClr val="accent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rPr lang="en-GB" sz="1600">
                <a:solidFill>
                  <a:schemeClr val="dk1"/>
                </a:solidFill>
              </a:rPr>
              <a:t>Here E refers to the number of edges in the graph.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rPr lang="en-GB" sz="1600">
                <a:solidFill>
                  <a:schemeClr val="dk1"/>
                </a:solidFill>
              </a:rPr>
              <a:t>However, we also accepted when E was computed as</a:t>
            </a:r>
            <a:r>
              <a:rPr lang="en-GB" sz="1600">
                <a:solidFill>
                  <a:schemeClr val="dk2"/>
                </a:solidFill>
              </a:rPr>
              <a:t>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rPr lang="en-GB" sz="1600">
                <a:solidFill>
                  <a:schemeClr val="dk1"/>
                </a:solidFill>
              </a:rPr>
              <a:t>While we asked for the degree centralities to be plotted in a histogram, we asked to compute the </a:t>
            </a:r>
            <a:r>
              <a:rPr i="1" lang="en-GB" sz="1600">
                <a:solidFill>
                  <a:schemeClr val="dk1"/>
                </a:solidFill>
              </a:rPr>
              <a:t>mean degree</a:t>
            </a:r>
            <a:r>
              <a:rPr lang="en-GB" sz="1600">
                <a:solidFill>
                  <a:schemeClr val="dk1"/>
                </a:solidFill>
              </a:rPr>
              <a:t> for each group, not the mean degree centrality.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p:txBody>
      </p:sp>
      <p:pic>
        <p:nvPicPr>
          <p:cNvPr id="148" name="Google Shape;148;g34a4efbda98_0_17"/>
          <p:cNvPicPr preferRelativeResize="0"/>
          <p:nvPr/>
        </p:nvPicPr>
        <p:blipFill>
          <a:blip r:embed="rId3">
            <a:alphaModFix/>
          </a:blip>
          <a:stretch>
            <a:fillRect/>
          </a:stretch>
        </p:blipFill>
        <p:spPr>
          <a:xfrm>
            <a:off x="3832425" y="1155575"/>
            <a:ext cx="1485900" cy="542925"/>
          </a:xfrm>
          <a:prstGeom prst="rect">
            <a:avLst/>
          </a:prstGeom>
          <a:noFill/>
          <a:ln>
            <a:noFill/>
          </a:ln>
        </p:spPr>
      </p:pic>
      <p:pic>
        <p:nvPicPr>
          <p:cNvPr id="149" name="Google Shape;149;g34a4efbda98_0_17"/>
          <p:cNvPicPr preferRelativeResize="0"/>
          <p:nvPr/>
        </p:nvPicPr>
        <p:blipFill>
          <a:blip r:embed="rId4">
            <a:alphaModFix/>
          </a:blip>
          <a:stretch>
            <a:fillRect/>
          </a:stretch>
        </p:blipFill>
        <p:spPr>
          <a:xfrm>
            <a:off x="5131975" y="3623503"/>
            <a:ext cx="1158850" cy="386275"/>
          </a:xfrm>
          <a:prstGeom prst="rect">
            <a:avLst/>
          </a:prstGeom>
          <a:noFill/>
          <a:ln>
            <a:noFill/>
          </a:ln>
        </p:spPr>
      </p:pic>
      <p:pic>
        <p:nvPicPr>
          <p:cNvPr id="150" name="Google Shape;150;g34a4efbda98_0_17"/>
          <p:cNvPicPr preferRelativeResize="0"/>
          <p:nvPr/>
        </p:nvPicPr>
        <p:blipFill>
          <a:blip r:embed="rId5">
            <a:alphaModFix/>
          </a:blip>
          <a:stretch>
            <a:fillRect/>
          </a:stretch>
        </p:blipFill>
        <p:spPr>
          <a:xfrm>
            <a:off x="1893325" y="2247000"/>
            <a:ext cx="5357350" cy="1132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4a4efbda98_0_28"/>
          <p:cNvSpPr txBox="1"/>
          <p:nvPr>
            <p:ph type="title"/>
          </p:nvPr>
        </p:nvSpPr>
        <p:spPr>
          <a:xfrm>
            <a:off x="81400" y="765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2.2: </a:t>
            </a:r>
            <a:endParaRPr/>
          </a:p>
        </p:txBody>
      </p:sp>
      <p:sp>
        <p:nvSpPr>
          <p:cNvPr id="156" name="Google Shape;156;g34a4efbda98_0_28"/>
          <p:cNvSpPr txBox="1"/>
          <p:nvPr/>
        </p:nvSpPr>
        <p:spPr>
          <a:xfrm>
            <a:off x="107475" y="690925"/>
            <a:ext cx="8935800" cy="445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GB" sz="1600">
                <a:solidFill>
                  <a:schemeClr val="dk1"/>
                </a:solidFill>
              </a:rPr>
              <a:t>Again the discussions in 2.2 were generally really good.</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rPr lang="en-GB" sz="1600">
                <a:solidFill>
                  <a:schemeClr val="dk1"/>
                </a:solidFill>
              </a:rPr>
              <a:t>As an explanation for the difference in degree centrality we expected to hear that nodes with treatment=1 have higher degree because treatment induces similar patterns of gene expression (leading again to higher cosine similarity).</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sz="1600">
              <a:solidFill>
                <a:schemeClr val="dk2"/>
              </a:solidFill>
            </a:endParaRPr>
          </a:p>
        </p:txBody>
      </p:sp>
      <p:pic>
        <p:nvPicPr>
          <p:cNvPr id="157" name="Google Shape;157;g34a4efbda98_0_28"/>
          <p:cNvPicPr preferRelativeResize="0"/>
          <p:nvPr/>
        </p:nvPicPr>
        <p:blipFill>
          <a:blip r:embed="rId3">
            <a:alphaModFix/>
          </a:blip>
          <a:stretch>
            <a:fillRect/>
          </a:stretch>
        </p:blipFill>
        <p:spPr>
          <a:xfrm>
            <a:off x="2796825" y="1253662"/>
            <a:ext cx="3557100" cy="2636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8"/>
          <p:cNvPicPr preferRelativeResize="0"/>
          <p:nvPr/>
        </p:nvPicPr>
        <p:blipFill>
          <a:blip r:embed="rId3">
            <a:alphaModFix/>
          </a:blip>
          <a:stretch>
            <a:fillRect/>
          </a:stretch>
        </p:blipFill>
        <p:spPr>
          <a:xfrm>
            <a:off x="1403225" y="1414200"/>
            <a:ext cx="5682000" cy="638425"/>
          </a:xfrm>
          <a:prstGeom prst="rect">
            <a:avLst/>
          </a:prstGeom>
          <a:noFill/>
          <a:ln>
            <a:noFill/>
          </a:ln>
        </p:spPr>
      </p:pic>
      <p:sp>
        <p:nvSpPr>
          <p:cNvPr id="163" name="Google Shape;163;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3.1 </a:t>
            </a:r>
            <a:endParaRPr/>
          </a:p>
        </p:txBody>
      </p:sp>
      <p:sp>
        <p:nvSpPr>
          <p:cNvPr id="164" name="Google Shape;164;p8"/>
          <p:cNvSpPr txBox="1"/>
          <p:nvPr>
            <p:ph idx="1" type="body"/>
          </p:nvPr>
        </p:nvSpPr>
        <p:spPr>
          <a:xfrm>
            <a:off x="311700" y="941525"/>
            <a:ext cx="8520600" cy="18846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spcBef>
                <a:spcPts val="1200"/>
              </a:spcBef>
              <a:spcAft>
                <a:spcPts val="0"/>
              </a:spcAft>
              <a:buNone/>
            </a:pPr>
            <a:r>
              <a:rPr lang="en-GB">
                <a:solidFill>
                  <a:schemeClr val="dk1"/>
                </a:solidFill>
              </a:rPr>
              <a:t>The most common mistake here was in centering the kernel, which we do via equation 10.15 in the lecture notes:</a:t>
            </a:r>
            <a:endParaRPr>
              <a:solidFill>
                <a:schemeClr val="dk1"/>
              </a:solidFill>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solidFill>
                  <a:schemeClr val="dk1"/>
                </a:solidFill>
              </a:rPr>
              <a:t>Which is coded as:</a:t>
            </a:r>
            <a:endParaRPr>
              <a:solidFill>
                <a:schemeClr val="dk1"/>
              </a:solidFill>
            </a:endParaRPr>
          </a:p>
          <a:p>
            <a:pPr indent="0" lvl="0" marL="0" rtl="0" algn="l">
              <a:lnSpc>
                <a:spcPct val="115000"/>
              </a:lnSpc>
              <a:spcBef>
                <a:spcPts val="1200"/>
              </a:spcBef>
              <a:spcAft>
                <a:spcPts val="0"/>
              </a:spcAft>
              <a:buNone/>
            </a:pPr>
            <a:r>
              <a:t/>
            </a:r>
            <a:endParaRPr/>
          </a:p>
        </p:txBody>
      </p:sp>
      <p:pic>
        <p:nvPicPr>
          <p:cNvPr id="165" name="Google Shape;165;p8"/>
          <p:cNvPicPr preferRelativeResize="0"/>
          <p:nvPr/>
        </p:nvPicPr>
        <p:blipFill rotWithShape="1">
          <a:blip r:embed="rId4">
            <a:alphaModFix/>
          </a:blip>
          <a:srcRect b="0" l="2597" r="6278" t="0"/>
          <a:stretch/>
        </p:blipFill>
        <p:spPr>
          <a:xfrm>
            <a:off x="997950" y="2372900"/>
            <a:ext cx="7550001" cy="339575"/>
          </a:xfrm>
          <a:prstGeom prst="rect">
            <a:avLst/>
          </a:prstGeom>
          <a:noFill/>
          <a:ln>
            <a:noFill/>
          </a:ln>
        </p:spPr>
      </p:pic>
      <p:pic>
        <p:nvPicPr>
          <p:cNvPr id="166" name="Google Shape;166;p8"/>
          <p:cNvPicPr preferRelativeResize="0"/>
          <p:nvPr/>
        </p:nvPicPr>
        <p:blipFill>
          <a:blip r:embed="rId5">
            <a:alphaModFix/>
          </a:blip>
          <a:stretch>
            <a:fillRect/>
          </a:stretch>
        </p:blipFill>
        <p:spPr>
          <a:xfrm>
            <a:off x="4720650" y="2788675"/>
            <a:ext cx="3589752" cy="2321326"/>
          </a:xfrm>
          <a:prstGeom prst="rect">
            <a:avLst/>
          </a:prstGeom>
          <a:noFill/>
          <a:ln>
            <a:noFill/>
          </a:ln>
        </p:spPr>
      </p:pic>
      <p:sp>
        <p:nvSpPr>
          <p:cNvPr id="167" name="Google Shape;167;p8"/>
          <p:cNvSpPr txBox="1"/>
          <p:nvPr/>
        </p:nvSpPr>
        <p:spPr>
          <a:xfrm>
            <a:off x="311700" y="2826125"/>
            <a:ext cx="4226100" cy="133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GB" sz="1800">
                <a:solidFill>
                  <a:schemeClr val="dk1"/>
                </a:solidFill>
              </a:rPr>
              <a:t>Most students didn’t spot why the spectrum plot shows the kernel is valid; it should show that the eigenvalues are </a:t>
            </a:r>
            <a:r>
              <a:rPr b="1" lang="en-GB" sz="1800">
                <a:solidFill>
                  <a:schemeClr val="dk1"/>
                </a:solidFill>
              </a:rPr>
              <a:t>non-negative</a:t>
            </a:r>
            <a:r>
              <a:rPr lang="en-GB" sz="1800">
                <a:solidFill>
                  <a:schemeClr val="dk1"/>
                </a:solidFill>
              </a:rPr>
              <a:t> as required. You should still point out this even you got negative values from mistakes.</a:t>
            </a:r>
            <a:endParaRPr sz="1800">
              <a:solidFill>
                <a:schemeClr val="dk1"/>
              </a:solidFill>
            </a:endParaRPr>
          </a:p>
        </p:txBody>
      </p:sp>
      <p:cxnSp>
        <p:nvCxnSpPr>
          <p:cNvPr id="168" name="Google Shape;168;p8"/>
          <p:cNvCxnSpPr/>
          <p:nvPr/>
        </p:nvCxnSpPr>
        <p:spPr>
          <a:xfrm flipH="1">
            <a:off x="6002150" y="3951900"/>
            <a:ext cx="745500" cy="826200"/>
          </a:xfrm>
          <a:prstGeom prst="straightConnector1">
            <a:avLst/>
          </a:prstGeom>
          <a:noFill/>
          <a:ln cap="flat" cmpd="sng" w="9525">
            <a:solidFill>
              <a:srgbClr val="FF0000"/>
            </a:solidFill>
            <a:prstDash val="solid"/>
            <a:round/>
            <a:headEnd len="med" w="med" type="none"/>
            <a:tailEnd len="med" w="med" type="triangle"/>
          </a:ln>
        </p:spPr>
      </p:cxnSp>
      <p:sp>
        <p:nvSpPr>
          <p:cNvPr id="169" name="Google Shape;169;p8"/>
          <p:cNvSpPr txBox="1"/>
          <p:nvPr/>
        </p:nvSpPr>
        <p:spPr>
          <a:xfrm>
            <a:off x="6747650" y="3552600"/>
            <a:ext cx="13872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0000"/>
                </a:solidFill>
              </a:rPr>
              <a:t>non-negative</a:t>
            </a:r>
            <a:endParaRPr>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g34a545359d3_0_3"/>
          <p:cNvPicPr preferRelativeResize="0"/>
          <p:nvPr/>
        </p:nvPicPr>
        <p:blipFill rotWithShape="1">
          <a:blip r:embed="rId3">
            <a:alphaModFix/>
          </a:blip>
          <a:srcRect b="0" l="0" r="0" t="34644"/>
          <a:stretch/>
        </p:blipFill>
        <p:spPr>
          <a:xfrm>
            <a:off x="912375" y="2717450"/>
            <a:ext cx="4782425" cy="494075"/>
          </a:xfrm>
          <a:prstGeom prst="rect">
            <a:avLst/>
          </a:prstGeom>
          <a:noFill/>
          <a:ln>
            <a:noFill/>
          </a:ln>
        </p:spPr>
      </p:pic>
      <p:sp>
        <p:nvSpPr>
          <p:cNvPr id="175" name="Google Shape;175;g34a545359d3_0_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3.2</a:t>
            </a:r>
            <a:endParaRPr/>
          </a:p>
          <a:p>
            <a:pPr indent="0" lvl="0" marL="0" rtl="0" algn="l">
              <a:spcBef>
                <a:spcPts val="0"/>
              </a:spcBef>
              <a:spcAft>
                <a:spcPts val="0"/>
              </a:spcAft>
              <a:buClr>
                <a:schemeClr val="dk1"/>
              </a:buClr>
              <a:buSzPct val="111111"/>
              <a:buFont typeface="Arial"/>
              <a:buNone/>
            </a:pPr>
            <a:r>
              <a:t/>
            </a:r>
            <a:endParaRPr/>
          </a:p>
        </p:txBody>
      </p:sp>
      <p:sp>
        <p:nvSpPr>
          <p:cNvPr id="176" name="Google Shape;176;g34a545359d3_0_3"/>
          <p:cNvSpPr txBox="1"/>
          <p:nvPr>
            <p:ph idx="1" type="body"/>
          </p:nvPr>
        </p:nvSpPr>
        <p:spPr>
          <a:xfrm>
            <a:off x="198075" y="1054525"/>
            <a:ext cx="8520600" cy="37413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None/>
            </a:pPr>
            <a:r>
              <a:rPr lang="en-GB">
                <a:solidFill>
                  <a:schemeClr val="dk1"/>
                </a:solidFill>
              </a:rPr>
              <a:t>Here the most common mistakes </a:t>
            </a:r>
            <a:r>
              <a:rPr lang="en-GB">
                <a:solidFill>
                  <a:schemeClr val="dk1"/>
                </a:solidFill>
              </a:rPr>
              <a:t>occurred</a:t>
            </a:r>
            <a:r>
              <a:rPr lang="en-GB">
                <a:solidFill>
                  <a:schemeClr val="dk1"/>
                </a:solidFill>
              </a:rPr>
              <a:t> in completing the `pca_function_kernel` including:</a:t>
            </a:r>
            <a:endParaRPr>
              <a:solidFill>
                <a:schemeClr val="dk1"/>
              </a:solidFill>
            </a:endParaRPr>
          </a:p>
          <a:p>
            <a:pPr indent="-287972" lvl="0" marL="457200" rtl="0" algn="l">
              <a:spcBef>
                <a:spcPts val="1200"/>
              </a:spcBef>
              <a:spcAft>
                <a:spcPts val="0"/>
              </a:spcAft>
              <a:buClr>
                <a:schemeClr val="dk1"/>
              </a:buClr>
              <a:buSzPct val="61111"/>
              <a:buChar char="●"/>
            </a:pPr>
            <a:r>
              <a:rPr lang="en-GB">
                <a:solidFill>
                  <a:schemeClr val="dk1"/>
                </a:solidFill>
              </a:rPr>
              <a:t>A</a:t>
            </a:r>
            <a:r>
              <a:rPr lang="en-GB">
                <a:solidFill>
                  <a:schemeClr val="dk1"/>
                </a:solidFill>
              </a:rPr>
              <a:t> mistake in constructing the matrix to perform spectral decomposition (C), the kernel function should be used on the input data</a:t>
            </a:r>
            <a:endParaRPr>
              <a:solidFill>
                <a:schemeClr val="dk1"/>
              </a:solidFill>
            </a:endParaRPr>
          </a:p>
          <a:p>
            <a:pPr indent="0" lvl="0" marL="0" rtl="0" algn="l">
              <a:spcBef>
                <a:spcPts val="1200"/>
              </a:spcBef>
              <a:spcAft>
                <a:spcPts val="0"/>
              </a:spcAft>
              <a:buNone/>
            </a:pPr>
            <a:r>
              <a:t/>
            </a:r>
            <a:endParaRPr/>
          </a:p>
          <a:p>
            <a:pPr indent="-287972" lvl="0" marL="457200" rtl="0" algn="l">
              <a:spcBef>
                <a:spcPts val="1200"/>
              </a:spcBef>
              <a:spcAft>
                <a:spcPts val="0"/>
              </a:spcAft>
              <a:buClr>
                <a:schemeClr val="dk1"/>
              </a:buClr>
              <a:buSzPct val="61111"/>
              <a:buChar char="●"/>
            </a:pPr>
            <a:r>
              <a:rPr lang="en-GB">
                <a:solidFill>
                  <a:schemeClr val="dk1"/>
                </a:solidFill>
              </a:rPr>
              <a:t>Not correctly normalised the eigenvectors according to the following:</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a:p>
            <a:pPr indent="0" lvl="0" marL="457200" rtl="0" algn="l">
              <a:spcBef>
                <a:spcPts val="1200"/>
              </a:spcBef>
              <a:spcAft>
                <a:spcPts val="0"/>
              </a:spcAft>
              <a:buNone/>
            </a:pPr>
            <a:r>
              <a:t/>
            </a:r>
            <a:endParaRPr/>
          </a:p>
          <a:p>
            <a:pPr indent="-287972" lvl="0" marL="457200" rtl="0" algn="l">
              <a:spcBef>
                <a:spcPts val="1200"/>
              </a:spcBef>
              <a:spcAft>
                <a:spcPts val="0"/>
              </a:spcAft>
              <a:buClr>
                <a:schemeClr val="dk1"/>
              </a:buClr>
              <a:buSzPct val="61111"/>
              <a:buChar char="●"/>
            </a:pPr>
            <a:r>
              <a:rPr lang="en-GB">
                <a:solidFill>
                  <a:schemeClr val="dk1"/>
                </a:solidFill>
              </a:rPr>
              <a:t>The projection being applied on X when it should be on C</a:t>
            </a:r>
            <a:endParaRPr>
              <a:solidFill>
                <a:schemeClr val="dk1"/>
              </a:solidFill>
            </a:endParaRPr>
          </a:p>
          <a:p>
            <a:pPr indent="0" lvl="0" marL="457200" rtl="0" algn="l">
              <a:spcBef>
                <a:spcPts val="1200"/>
              </a:spcBef>
              <a:spcAft>
                <a:spcPts val="1200"/>
              </a:spcAft>
              <a:buNone/>
            </a:pPr>
            <a:r>
              <a:t/>
            </a:r>
            <a:endParaRPr/>
          </a:p>
        </p:txBody>
      </p:sp>
      <p:pic>
        <p:nvPicPr>
          <p:cNvPr id="177" name="Google Shape;177;g34a545359d3_0_3"/>
          <p:cNvPicPr preferRelativeResize="0"/>
          <p:nvPr/>
        </p:nvPicPr>
        <p:blipFill rotWithShape="1">
          <a:blip r:embed="rId4">
            <a:alphaModFix/>
          </a:blip>
          <a:srcRect b="9758" l="0" r="0" t="35635"/>
          <a:stretch/>
        </p:blipFill>
        <p:spPr>
          <a:xfrm>
            <a:off x="872150" y="1964075"/>
            <a:ext cx="5471600" cy="371150"/>
          </a:xfrm>
          <a:prstGeom prst="rect">
            <a:avLst/>
          </a:prstGeom>
          <a:noFill/>
          <a:ln>
            <a:noFill/>
          </a:ln>
        </p:spPr>
      </p:pic>
      <p:pic>
        <p:nvPicPr>
          <p:cNvPr id="178" name="Google Shape;178;g34a545359d3_0_3"/>
          <p:cNvPicPr preferRelativeResize="0"/>
          <p:nvPr/>
        </p:nvPicPr>
        <p:blipFill>
          <a:blip r:embed="rId5">
            <a:alphaModFix/>
          </a:blip>
          <a:stretch>
            <a:fillRect/>
          </a:stretch>
        </p:blipFill>
        <p:spPr>
          <a:xfrm>
            <a:off x="872150" y="3244143"/>
            <a:ext cx="7399701" cy="627143"/>
          </a:xfrm>
          <a:prstGeom prst="rect">
            <a:avLst/>
          </a:prstGeom>
          <a:noFill/>
          <a:ln>
            <a:noFill/>
          </a:ln>
        </p:spPr>
      </p:pic>
      <p:pic>
        <p:nvPicPr>
          <p:cNvPr id="179" name="Google Shape;179;g34a545359d3_0_3"/>
          <p:cNvPicPr preferRelativeResize="0"/>
          <p:nvPr/>
        </p:nvPicPr>
        <p:blipFill rotWithShape="1">
          <a:blip r:embed="rId6">
            <a:alphaModFix/>
          </a:blip>
          <a:srcRect b="28402" l="0" r="0" t="0"/>
          <a:stretch/>
        </p:blipFill>
        <p:spPr>
          <a:xfrm>
            <a:off x="872150" y="4197402"/>
            <a:ext cx="4677299" cy="371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4 </a:t>
            </a:r>
            <a:endParaRPr/>
          </a:p>
        </p:txBody>
      </p:sp>
      <p:sp>
        <p:nvSpPr>
          <p:cNvPr id="185" name="Google Shape;185;p9"/>
          <p:cNvSpPr txBox="1"/>
          <p:nvPr>
            <p:ph idx="1" type="body"/>
          </p:nvPr>
        </p:nvSpPr>
        <p:spPr>
          <a:xfrm>
            <a:off x="311700" y="1017725"/>
            <a:ext cx="8520600" cy="3990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2118"/>
              <a:buNone/>
            </a:pPr>
            <a:r>
              <a:t/>
            </a:r>
            <a:endParaRPr sz="700"/>
          </a:p>
          <a:p>
            <a:pPr indent="0" lvl="0" marL="0" rtl="0" algn="l">
              <a:spcBef>
                <a:spcPts val="1200"/>
              </a:spcBef>
              <a:spcAft>
                <a:spcPts val="0"/>
              </a:spcAft>
              <a:buClr>
                <a:schemeClr val="dk1"/>
              </a:buClr>
              <a:buSzPts val="1100"/>
              <a:buFont typeface="Arial"/>
              <a:buNone/>
            </a:pPr>
            <a:r>
              <a:rPr lang="en-GB"/>
              <a:t>Most students forgot to add an intercept column to the data in any of the logistic regression applications. You are also required to use the whole dataset but many still splitted into training and test sets.</a:t>
            </a:r>
            <a:endParaRPr/>
          </a:p>
          <a:p>
            <a:pPr indent="0" lvl="0" marL="0" rtl="0" algn="l">
              <a:spcBef>
                <a:spcPts val="1200"/>
              </a:spcBef>
              <a:spcAft>
                <a:spcPts val="0"/>
              </a:spcAft>
              <a:buNone/>
            </a:pPr>
            <a:r>
              <a:rPr lang="en-GB"/>
              <a:t>Correct implementation:</a:t>
            </a:r>
            <a:endParaRPr/>
          </a:p>
          <a:p>
            <a:pPr indent="0" lvl="0" marL="0" rtl="0" algn="l">
              <a:spcBef>
                <a:spcPts val="1200"/>
              </a:spcBef>
              <a:spcAft>
                <a:spcPts val="0"/>
              </a:spcAft>
              <a:buNone/>
            </a:pPr>
            <a:r>
              <a:t/>
            </a:r>
            <a:endParaRPr/>
          </a:p>
          <a:p>
            <a:pPr indent="457200" lvl="0" marL="0" rtl="0" algn="l">
              <a:lnSpc>
                <a:spcPct val="115000"/>
              </a:lnSpc>
              <a:spcBef>
                <a:spcPts val="1200"/>
              </a:spcBef>
              <a:spcAft>
                <a:spcPts val="1200"/>
              </a:spcAft>
              <a:buSzPts val="2118"/>
              <a:buNone/>
            </a:pPr>
            <a:r>
              <a:t/>
            </a:r>
            <a:endParaRPr/>
          </a:p>
        </p:txBody>
      </p:sp>
      <p:pic>
        <p:nvPicPr>
          <p:cNvPr id="186" name="Google Shape;186;p9"/>
          <p:cNvPicPr preferRelativeResize="0"/>
          <p:nvPr/>
        </p:nvPicPr>
        <p:blipFill>
          <a:blip r:embed="rId3">
            <a:alphaModFix/>
          </a:blip>
          <a:stretch>
            <a:fillRect/>
          </a:stretch>
        </p:blipFill>
        <p:spPr>
          <a:xfrm>
            <a:off x="384000" y="2917798"/>
            <a:ext cx="7630750" cy="11830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4a5897155b_1_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4.3</a:t>
            </a:r>
            <a:endParaRPr/>
          </a:p>
        </p:txBody>
      </p:sp>
      <p:sp>
        <p:nvSpPr>
          <p:cNvPr id="192" name="Google Shape;192;g34a5897155b_1_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0" lvl="0" marL="0" rtl="0" algn="l">
              <a:spcBef>
                <a:spcPts val="1200"/>
              </a:spcBef>
              <a:spcAft>
                <a:spcPts val="0"/>
              </a:spcAft>
              <a:buNone/>
            </a:pPr>
            <a:r>
              <a:rPr lang="en-GB"/>
              <a:t>In order to investigate different thresholding values, the results from logistic regression needed to be compared with the threshold value.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Very few students calculated the precision as asked, with most reporting the accuracy.</a:t>
            </a:r>
            <a:endParaRPr/>
          </a:p>
        </p:txBody>
      </p:sp>
      <p:pic>
        <p:nvPicPr>
          <p:cNvPr id="193" name="Google Shape;193;g34a5897155b_1_3"/>
          <p:cNvPicPr preferRelativeResize="0"/>
          <p:nvPr/>
        </p:nvPicPr>
        <p:blipFill>
          <a:blip r:embed="rId3">
            <a:alphaModFix/>
          </a:blip>
          <a:stretch>
            <a:fillRect/>
          </a:stretch>
        </p:blipFill>
        <p:spPr>
          <a:xfrm>
            <a:off x="537100" y="1856675"/>
            <a:ext cx="5783826" cy="2008000"/>
          </a:xfrm>
          <a:prstGeom prst="rect">
            <a:avLst/>
          </a:prstGeom>
          <a:noFill/>
          <a:ln>
            <a:noFill/>
          </a:ln>
        </p:spPr>
      </p:pic>
      <p:cxnSp>
        <p:nvCxnSpPr>
          <p:cNvPr id="194" name="Google Shape;194;g34a5897155b_1_3"/>
          <p:cNvCxnSpPr/>
          <p:nvPr/>
        </p:nvCxnSpPr>
        <p:spPr>
          <a:xfrm>
            <a:off x="4017725" y="1766150"/>
            <a:ext cx="413100" cy="506100"/>
          </a:xfrm>
          <a:prstGeom prst="straightConnector1">
            <a:avLst/>
          </a:prstGeom>
          <a:noFill/>
          <a:ln cap="flat" cmpd="sng" w="9525">
            <a:solidFill>
              <a:srgbClr val="FF0000"/>
            </a:solidFill>
            <a:prstDash val="solid"/>
            <a:round/>
            <a:headEnd len="med" w="med" type="none"/>
            <a:tailEnd len="med" w="med" type="triangle"/>
          </a:ln>
        </p:spPr>
      </p:cxnSp>
      <p:cxnSp>
        <p:nvCxnSpPr>
          <p:cNvPr id="195" name="Google Shape;195;g34a5897155b_1_3"/>
          <p:cNvCxnSpPr>
            <a:stCxn id="196" idx="1"/>
          </p:cNvCxnSpPr>
          <p:nvPr/>
        </p:nvCxnSpPr>
        <p:spPr>
          <a:xfrm flipH="1">
            <a:off x="2767725" y="2675950"/>
            <a:ext cx="3553200" cy="391500"/>
          </a:xfrm>
          <a:prstGeom prst="straightConnector1">
            <a:avLst/>
          </a:prstGeom>
          <a:noFill/>
          <a:ln cap="flat" cmpd="sng" w="9525">
            <a:solidFill>
              <a:srgbClr val="FF0000"/>
            </a:solidFill>
            <a:prstDash val="solid"/>
            <a:round/>
            <a:headEnd len="med" w="med" type="none"/>
            <a:tailEnd len="med" w="med" type="triangle"/>
          </a:ln>
        </p:spPr>
      </p:cxnSp>
      <p:pic>
        <p:nvPicPr>
          <p:cNvPr id="196" name="Google Shape;196;g34a5897155b_1_3"/>
          <p:cNvPicPr preferRelativeResize="0"/>
          <p:nvPr/>
        </p:nvPicPr>
        <p:blipFill rotWithShape="1">
          <a:blip r:embed="rId4">
            <a:alphaModFix/>
          </a:blip>
          <a:srcRect b="0" l="6511" r="12602" t="0"/>
          <a:stretch/>
        </p:blipFill>
        <p:spPr>
          <a:xfrm>
            <a:off x="6320925" y="2189700"/>
            <a:ext cx="2716350" cy="972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4a5897155b_1_1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4.3</a:t>
            </a:r>
            <a:endParaRPr/>
          </a:p>
        </p:txBody>
      </p:sp>
      <p:sp>
        <p:nvSpPr>
          <p:cNvPr id="202" name="Google Shape;202;g34a5897155b_1_12"/>
          <p:cNvSpPr txBox="1"/>
          <p:nvPr>
            <p:ph idx="1" type="body"/>
          </p:nvPr>
        </p:nvSpPr>
        <p:spPr>
          <a:xfrm>
            <a:off x="297663" y="966550"/>
            <a:ext cx="4005600" cy="1470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sz="1483"/>
              <a:t>In order to plot a </a:t>
            </a:r>
            <a:r>
              <a:rPr lang="en-GB" sz="1483"/>
              <a:t>decision</a:t>
            </a:r>
            <a:r>
              <a:rPr lang="en-GB" sz="1483"/>
              <a:t> boundaries on the scatter plots, you need to consider the </a:t>
            </a:r>
            <a:r>
              <a:rPr lang="en-GB" sz="1483"/>
              <a:t>logistic</a:t>
            </a:r>
            <a:r>
              <a:rPr lang="en-GB" sz="1483"/>
              <a:t> regression formulation: </a:t>
            </a:r>
            <a:endParaRPr sz="1483"/>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203" name="Google Shape;203;g34a5897155b_1_12"/>
          <p:cNvPicPr preferRelativeResize="0"/>
          <p:nvPr/>
        </p:nvPicPr>
        <p:blipFill>
          <a:blip r:embed="rId3">
            <a:alphaModFix/>
          </a:blip>
          <a:stretch>
            <a:fillRect/>
          </a:stretch>
        </p:blipFill>
        <p:spPr>
          <a:xfrm>
            <a:off x="4520175" y="0"/>
            <a:ext cx="4564725" cy="3774376"/>
          </a:xfrm>
          <a:prstGeom prst="rect">
            <a:avLst/>
          </a:prstGeom>
          <a:noFill/>
          <a:ln>
            <a:noFill/>
          </a:ln>
        </p:spPr>
      </p:pic>
      <p:pic>
        <p:nvPicPr>
          <p:cNvPr id="204" name="Google Shape;204;g34a5897155b_1_12"/>
          <p:cNvPicPr preferRelativeResize="0"/>
          <p:nvPr/>
        </p:nvPicPr>
        <p:blipFill rotWithShape="1">
          <a:blip r:embed="rId4">
            <a:alphaModFix/>
          </a:blip>
          <a:srcRect b="0" l="0" r="0" t="22330"/>
          <a:stretch/>
        </p:blipFill>
        <p:spPr>
          <a:xfrm>
            <a:off x="655175" y="1787325"/>
            <a:ext cx="3024100" cy="572700"/>
          </a:xfrm>
          <a:prstGeom prst="rect">
            <a:avLst/>
          </a:prstGeom>
          <a:noFill/>
          <a:ln>
            <a:noFill/>
          </a:ln>
        </p:spPr>
      </p:pic>
      <p:pic>
        <p:nvPicPr>
          <p:cNvPr id="205" name="Google Shape;205;g34a5897155b_1_12"/>
          <p:cNvPicPr preferRelativeResize="0"/>
          <p:nvPr/>
        </p:nvPicPr>
        <p:blipFill>
          <a:blip r:embed="rId5">
            <a:alphaModFix/>
          </a:blip>
          <a:stretch>
            <a:fillRect/>
          </a:stretch>
        </p:blipFill>
        <p:spPr>
          <a:xfrm>
            <a:off x="436038" y="2419350"/>
            <a:ext cx="3728875" cy="808075"/>
          </a:xfrm>
          <a:prstGeom prst="rect">
            <a:avLst/>
          </a:prstGeom>
          <a:noFill/>
          <a:ln>
            <a:noFill/>
          </a:ln>
        </p:spPr>
      </p:pic>
      <p:sp>
        <p:nvSpPr>
          <p:cNvPr id="206" name="Google Shape;206;g34a5897155b_1_12"/>
          <p:cNvSpPr txBox="1"/>
          <p:nvPr>
            <p:ph idx="1" type="body"/>
          </p:nvPr>
        </p:nvSpPr>
        <p:spPr>
          <a:xfrm>
            <a:off x="283625" y="2217300"/>
            <a:ext cx="4267200" cy="7158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GB" sz="2600"/>
              <a:t>Which can be rearranged to give:</a:t>
            </a:r>
            <a:r>
              <a:rPr lang="en-GB" sz="2300"/>
              <a:t> </a:t>
            </a:r>
            <a:endParaRPr sz="23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207" name="Google Shape;207;g34a5897155b_1_12"/>
          <p:cNvPicPr preferRelativeResize="0"/>
          <p:nvPr/>
        </p:nvPicPr>
        <p:blipFill rotWithShape="1">
          <a:blip r:embed="rId6">
            <a:alphaModFix/>
          </a:blip>
          <a:srcRect b="0" l="0" r="5891" t="14893"/>
          <a:stretch/>
        </p:blipFill>
        <p:spPr>
          <a:xfrm>
            <a:off x="311700" y="3774375"/>
            <a:ext cx="8605300" cy="1206000"/>
          </a:xfrm>
          <a:prstGeom prst="rect">
            <a:avLst/>
          </a:prstGeom>
          <a:noFill/>
          <a:ln>
            <a:noFill/>
          </a:ln>
        </p:spPr>
      </p:pic>
      <p:sp>
        <p:nvSpPr>
          <p:cNvPr id="208" name="Google Shape;208;g34a5897155b_1_12"/>
          <p:cNvSpPr txBox="1"/>
          <p:nvPr>
            <p:ph idx="1" type="body"/>
          </p:nvPr>
        </p:nvSpPr>
        <p:spPr>
          <a:xfrm>
            <a:off x="283650" y="3230400"/>
            <a:ext cx="4005600" cy="4473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GB" sz="5800"/>
              <a:t>Which for tau=0.7 is: </a:t>
            </a:r>
            <a:endParaRPr sz="58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0"/>
          <p:cNvSpPr txBox="1"/>
          <p:nvPr>
            <p:ph type="title"/>
          </p:nvPr>
        </p:nvSpPr>
        <p:spPr>
          <a:xfrm>
            <a:off x="81400" y="765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5</a:t>
            </a:r>
            <a:endParaRPr/>
          </a:p>
        </p:txBody>
      </p:sp>
      <p:sp>
        <p:nvSpPr>
          <p:cNvPr id="214" name="Google Shape;214;p10"/>
          <p:cNvSpPr txBox="1"/>
          <p:nvPr/>
        </p:nvSpPr>
        <p:spPr>
          <a:xfrm>
            <a:off x="230300" y="721625"/>
            <a:ext cx="8705700" cy="91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1800">
                <a:solidFill>
                  <a:schemeClr val="dk2"/>
                </a:solidFill>
              </a:rPr>
              <a:t>Here the main challenge was extracting B(C) at each level. </a:t>
            </a:r>
            <a:endParaRPr sz="1800">
              <a:solidFill>
                <a:schemeClr val="dk2"/>
              </a:solidFill>
            </a:endParaRPr>
          </a:p>
          <a:p>
            <a:pPr indent="0" lvl="0" marL="0" rtl="0" algn="l">
              <a:lnSpc>
                <a:spcPct val="115000"/>
              </a:lnSpc>
              <a:spcBef>
                <a:spcPts val="1200"/>
              </a:spcBef>
              <a:spcAft>
                <a:spcPts val="0"/>
              </a:spcAft>
              <a:buNone/>
            </a:pPr>
            <a:r>
              <a:t/>
            </a:r>
            <a:endParaRPr sz="1800">
              <a:solidFill>
                <a:schemeClr val="dk2"/>
              </a:solidFill>
            </a:endParaRPr>
          </a:p>
          <a:p>
            <a:pPr indent="0" lvl="0" marL="0" rtl="0" algn="l">
              <a:lnSpc>
                <a:spcPct val="115000"/>
              </a:lnSpc>
              <a:spcBef>
                <a:spcPts val="1200"/>
              </a:spcBef>
              <a:spcAft>
                <a:spcPts val="0"/>
              </a:spcAft>
              <a:buNone/>
            </a:pPr>
            <a:r>
              <a:t/>
            </a:r>
            <a:endParaRPr sz="1800">
              <a:solidFill>
                <a:schemeClr val="dk2"/>
              </a:solidFill>
            </a:endParaRPr>
          </a:p>
          <a:p>
            <a:pPr indent="0" lvl="0" marL="0" rtl="0" algn="l">
              <a:lnSpc>
                <a:spcPct val="115000"/>
              </a:lnSpc>
              <a:spcBef>
                <a:spcPts val="1200"/>
              </a:spcBef>
              <a:spcAft>
                <a:spcPts val="0"/>
              </a:spcAft>
              <a:buNone/>
            </a:pPr>
            <a:r>
              <a:t/>
            </a:r>
            <a:endParaRPr sz="1800">
              <a:solidFill>
                <a:schemeClr val="dk2"/>
              </a:solidFill>
            </a:endParaRPr>
          </a:p>
          <a:p>
            <a:pPr indent="0" lvl="0" marL="457200" rtl="0" algn="l">
              <a:lnSpc>
                <a:spcPct val="115000"/>
              </a:lnSpc>
              <a:spcBef>
                <a:spcPts val="1200"/>
              </a:spcBef>
              <a:spcAft>
                <a:spcPts val="1200"/>
              </a:spcAft>
              <a:buNone/>
            </a:pPr>
            <a:r>
              <a:t/>
            </a:r>
            <a:endParaRPr sz="1800">
              <a:solidFill>
                <a:schemeClr val="dk2"/>
              </a:solidFill>
            </a:endParaRPr>
          </a:p>
        </p:txBody>
      </p:sp>
      <p:pic>
        <p:nvPicPr>
          <p:cNvPr id="215" name="Google Shape;215;p10"/>
          <p:cNvPicPr preferRelativeResize="0"/>
          <p:nvPr/>
        </p:nvPicPr>
        <p:blipFill>
          <a:blip r:embed="rId3">
            <a:alphaModFix/>
          </a:blip>
          <a:stretch>
            <a:fillRect/>
          </a:stretch>
        </p:blipFill>
        <p:spPr>
          <a:xfrm>
            <a:off x="133025" y="1249700"/>
            <a:ext cx="6274275" cy="3433375"/>
          </a:xfrm>
          <a:prstGeom prst="rect">
            <a:avLst/>
          </a:prstGeom>
          <a:noFill/>
          <a:ln>
            <a:noFill/>
          </a:ln>
        </p:spPr>
      </p:pic>
      <p:sp>
        <p:nvSpPr>
          <p:cNvPr id="216" name="Google Shape;216;p10"/>
          <p:cNvSpPr txBox="1"/>
          <p:nvPr/>
        </p:nvSpPr>
        <p:spPr>
          <a:xfrm>
            <a:off x="6343550" y="1353000"/>
            <a:ext cx="2800500" cy="303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1800">
                <a:solidFill>
                  <a:schemeClr val="dk2"/>
                </a:solidFill>
              </a:rPr>
              <a:t> To do this we had to:</a:t>
            </a:r>
            <a:endParaRPr sz="1800">
              <a:solidFill>
                <a:schemeClr val="dk2"/>
              </a:solidFill>
            </a:endParaRPr>
          </a:p>
          <a:p>
            <a:pPr indent="-342900" lvl="0" marL="457200" rtl="0" algn="l">
              <a:lnSpc>
                <a:spcPct val="115000"/>
              </a:lnSpc>
              <a:spcBef>
                <a:spcPts val="1200"/>
              </a:spcBef>
              <a:spcAft>
                <a:spcPts val="0"/>
              </a:spcAft>
              <a:buClr>
                <a:schemeClr val="dk2"/>
              </a:buClr>
              <a:buSzPts val="1800"/>
              <a:buChar char="-"/>
            </a:pPr>
            <a:r>
              <a:rPr lang="en-GB" sz="1800">
                <a:solidFill>
                  <a:schemeClr val="dk2"/>
                </a:solidFill>
              </a:rPr>
              <a:t> correctly identified the unique set of labels at each level (it’s not {1,..., k})</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GB" sz="1800">
                <a:solidFill>
                  <a:schemeClr val="dk2"/>
                </a:solidFill>
              </a:rPr>
              <a:t>extracted distances correctly</a:t>
            </a:r>
            <a:endParaRPr sz="1800">
              <a:solidFill>
                <a:schemeClr val="dk2"/>
              </a:solidFill>
            </a:endParaRPr>
          </a:p>
        </p:txBody>
      </p:sp>
      <p:cxnSp>
        <p:nvCxnSpPr>
          <p:cNvPr id="217" name="Google Shape;217;p10"/>
          <p:cNvCxnSpPr/>
          <p:nvPr/>
        </p:nvCxnSpPr>
        <p:spPr>
          <a:xfrm rot="10800000">
            <a:off x="6083400" y="2045225"/>
            <a:ext cx="413100" cy="41100"/>
          </a:xfrm>
          <a:prstGeom prst="straightConnector1">
            <a:avLst/>
          </a:prstGeom>
          <a:noFill/>
          <a:ln cap="flat" cmpd="sng" w="9525">
            <a:solidFill>
              <a:srgbClr val="FF0000"/>
            </a:solidFill>
            <a:prstDash val="solid"/>
            <a:round/>
            <a:headEnd len="med" w="med" type="none"/>
            <a:tailEnd len="med" w="med" type="triangle"/>
          </a:ln>
        </p:spPr>
      </p:cxnSp>
      <p:cxnSp>
        <p:nvCxnSpPr>
          <p:cNvPr id="218" name="Google Shape;218;p10"/>
          <p:cNvCxnSpPr/>
          <p:nvPr/>
        </p:nvCxnSpPr>
        <p:spPr>
          <a:xfrm flipH="1">
            <a:off x="3759650" y="3367025"/>
            <a:ext cx="2716200" cy="247800"/>
          </a:xfrm>
          <a:prstGeom prst="straightConnector1">
            <a:avLst/>
          </a:prstGeom>
          <a:noFill/>
          <a:ln cap="flat" cmpd="sng" w="9525">
            <a:solidFill>
              <a:srgbClr val="FF0000"/>
            </a:solidFill>
            <a:prstDash val="solid"/>
            <a:round/>
            <a:headEnd len="med" w="med" type="none"/>
            <a:tailEnd len="med" w="med" type="triangle"/>
          </a:ln>
        </p:spPr>
      </p:cxnSp>
      <p:cxnSp>
        <p:nvCxnSpPr>
          <p:cNvPr id="219" name="Google Shape;219;p10"/>
          <p:cNvCxnSpPr/>
          <p:nvPr/>
        </p:nvCxnSpPr>
        <p:spPr>
          <a:xfrm flipH="1">
            <a:off x="3620225" y="3459975"/>
            <a:ext cx="2886600" cy="4728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1"/>
          <p:cNvSpPr txBox="1"/>
          <p:nvPr>
            <p:ph type="title"/>
          </p:nvPr>
        </p:nvSpPr>
        <p:spPr>
          <a:xfrm>
            <a:off x="81400" y="765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Task 5</a:t>
            </a:r>
            <a:endParaRPr/>
          </a:p>
        </p:txBody>
      </p:sp>
      <p:sp>
        <p:nvSpPr>
          <p:cNvPr id="225" name="Google Shape;225;p11"/>
          <p:cNvSpPr txBox="1"/>
          <p:nvPr/>
        </p:nvSpPr>
        <p:spPr>
          <a:xfrm>
            <a:off x="230300" y="721625"/>
            <a:ext cx="8705700" cy="416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1800">
                <a:solidFill>
                  <a:schemeClr val="dk2"/>
                </a:solidFill>
              </a:rPr>
              <a:t>Many students did not determine the optim</a:t>
            </a:r>
            <a:r>
              <a:rPr lang="en-GB" sz="1800">
                <a:solidFill>
                  <a:schemeClr val="dk2"/>
                </a:solidFill>
                <a:extLst>
                  <a:ext uri="http://customooxmlschemas.google.com/">
                    <go:slidesCustomData xmlns:go="http://customooxmlschemas.google.com/" textRoundtripDataId="1"/>
                  </a:ext>
                </a:extLst>
              </a:rPr>
              <a:t>al K, using th</a:t>
            </a:r>
            <a:r>
              <a:rPr lang="en-GB" sz="1800">
                <a:solidFill>
                  <a:schemeClr val="dk2"/>
                </a:solidFill>
              </a:rPr>
              <a:t>e plot of B(C) and the elbow technique: </a:t>
            </a:r>
            <a:endParaRPr sz="1800">
              <a:solidFill>
                <a:schemeClr val="dk2"/>
              </a:solidFill>
            </a:endParaRPr>
          </a:p>
          <a:p>
            <a:pPr indent="0" lvl="0" marL="0" rtl="0" algn="l">
              <a:lnSpc>
                <a:spcPct val="115000"/>
              </a:lnSpc>
              <a:spcBef>
                <a:spcPts val="1200"/>
              </a:spcBef>
              <a:spcAft>
                <a:spcPts val="0"/>
              </a:spcAft>
              <a:buNone/>
            </a:pPr>
            <a:r>
              <a:t/>
            </a:r>
            <a:endParaRPr sz="1800">
              <a:solidFill>
                <a:schemeClr val="dk2"/>
              </a:solidFill>
            </a:endParaRPr>
          </a:p>
          <a:p>
            <a:pPr indent="0" lvl="0" marL="0" rtl="0" algn="l">
              <a:lnSpc>
                <a:spcPct val="115000"/>
              </a:lnSpc>
              <a:spcBef>
                <a:spcPts val="1200"/>
              </a:spcBef>
              <a:spcAft>
                <a:spcPts val="0"/>
              </a:spcAft>
              <a:buNone/>
            </a:pPr>
            <a:r>
              <a:t/>
            </a:r>
            <a:endParaRPr sz="1800">
              <a:solidFill>
                <a:schemeClr val="dk2"/>
              </a:solidFill>
            </a:endParaRPr>
          </a:p>
          <a:p>
            <a:pPr indent="0" lvl="0" marL="0" rtl="0" algn="l">
              <a:lnSpc>
                <a:spcPct val="115000"/>
              </a:lnSpc>
              <a:spcBef>
                <a:spcPts val="1200"/>
              </a:spcBef>
              <a:spcAft>
                <a:spcPts val="0"/>
              </a:spcAft>
              <a:buNone/>
            </a:pPr>
            <a:r>
              <a:t/>
            </a:r>
            <a:endParaRPr sz="1800">
              <a:solidFill>
                <a:schemeClr val="dk2"/>
              </a:solidFill>
            </a:endParaRPr>
          </a:p>
          <a:p>
            <a:pPr indent="0" lvl="0" marL="0" rtl="0" algn="l">
              <a:lnSpc>
                <a:spcPct val="115000"/>
              </a:lnSpc>
              <a:spcBef>
                <a:spcPts val="1200"/>
              </a:spcBef>
              <a:spcAft>
                <a:spcPts val="0"/>
              </a:spcAft>
              <a:buNone/>
            </a:pPr>
            <a:r>
              <a:rPr lang="en-GB" sz="1800">
                <a:solidFill>
                  <a:schemeClr val="dk2"/>
                </a:solidFill>
              </a:rPr>
              <a:t> </a:t>
            </a:r>
            <a:endParaRPr sz="1800">
              <a:solidFill>
                <a:schemeClr val="dk2"/>
              </a:solidFill>
            </a:endParaRPr>
          </a:p>
          <a:p>
            <a:pPr indent="0" lvl="0" marL="0" rtl="0" algn="l">
              <a:lnSpc>
                <a:spcPct val="115000"/>
              </a:lnSpc>
              <a:spcBef>
                <a:spcPts val="1200"/>
              </a:spcBef>
              <a:spcAft>
                <a:spcPts val="0"/>
              </a:spcAft>
              <a:buNone/>
            </a:pPr>
            <a:r>
              <a:t/>
            </a:r>
            <a:endParaRPr sz="1800">
              <a:solidFill>
                <a:schemeClr val="dk2"/>
              </a:solidFill>
            </a:endParaRPr>
          </a:p>
          <a:p>
            <a:pPr indent="0" lvl="0" marL="0" rtl="0" algn="l">
              <a:lnSpc>
                <a:spcPct val="115000"/>
              </a:lnSpc>
              <a:spcBef>
                <a:spcPts val="1200"/>
              </a:spcBef>
              <a:spcAft>
                <a:spcPts val="1200"/>
              </a:spcAft>
              <a:buNone/>
            </a:pPr>
            <a:r>
              <a:rPr lang="en-GB" sz="1800">
                <a:solidFill>
                  <a:schemeClr val="dk2"/>
                </a:solidFill>
              </a:rPr>
              <a:t>Lastly, many students </a:t>
            </a:r>
            <a:r>
              <a:rPr lang="en-GB" sz="1800">
                <a:solidFill>
                  <a:schemeClr val="dk2"/>
                </a:solidFill>
              </a:rPr>
              <a:t>incorrectly calculated the NVI not selecting a level and calculating: </a:t>
            </a:r>
            <a:endParaRPr sz="1800">
              <a:solidFill>
                <a:schemeClr val="dk2"/>
              </a:solidFill>
            </a:endParaRPr>
          </a:p>
        </p:txBody>
      </p:sp>
      <p:pic>
        <p:nvPicPr>
          <p:cNvPr id="226" name="Google Shape;226;p11"/>
          <p:cNvPicPr preferRelativeResize="0"/>
          <p:nvPr/>
        </p:nvPicPr>
        <p:blipFill>
          <a:blip r:embed="rId4">
            <a:alphaModFix/>
          </a:blip>
          <a:stretch>
            <a:fillRect/>
          </a:stretch>
        </p:blipFill>
        <p:spPr>
          <a:xfrm>
            <a:off x="1711500" y="1180325"/>
            <a:ext cx="3648199" cy="2588850"/>
          </a:xfrm>
          <a:prstGeom prst="rect">
            <a:avLst/>
          </a:prstGeom>
          <a:noFill/>
          <a:ln>
            <a:noFill/>
          </a:ln>
        </p:spPr>
      </p:pic>
      <p:cxnSp>
        <p:nvCxnSpPr>
          <p:cNvPr id="227" name="Google Shape;227;p11"/>
          <p:cNvCxnSpPr/>
          <p:nvPr/>
        </p:nvCxnSpPr>
        <p:spPr>
          <a:xfrm>
            <a:off x="2865250" y="998625"/>
            <a:ext cx="10200" cy="2850600"/>
          </a:xfrm>
          <a:prstGeom prst="straightConnector1">
            <a:avLst/>
          </a:prstGeom>
          <a:noFill/>
          <a:ln cap="flat" cmpd="sng" w="9525">
            <a:solidFill>
              <a:srgbClr val="FF0000"/>
            </a:solidFill>
            <a:prstDash val="solid"/>
            <a:round/>
            <a:headEnd len="med" w="med" type="none"/>
            <a:tailEnd len="med" w="med" type="none"/>
          </a:ln>
        </p:spPr>
      </p:cxnSp>
      <p:pic>
        <p:nvPicPr>
          <p:cNvPr id="228" name="Google Shape;228;p11"/>
          <p:cNvPicPr preferRelativeResize="0"/>
          <p:nvPr/>
        </p:nvPicPr>
        <p:blipFill>
          <a:blip r:embed="rId5">
            <a:alphaModFix/>
          </a:blip>
          <a:stretch>
            <a:fillRect/>
          </a:stretch>
        </p:blipFill>
        <p:spPr>
          <a:xfrm>
            <a:off x="1711500" y="4198625"/>
            <a:ext cx="4110324" cy="361347"/>
          </a:xfrm>
          <a:prstGeom prst="rect">
            <a:avLst/>
          </a:prstGeom>
          <a:noFill/>
          <a:ln>
            <a:noFill/>
          </a:ln>
        </p:spPr>
      </p:pic>
      <p:sp>
        <p:nvSpPr>
          <p:cNvPr id="229" name="Google Shape;229;p11"/>
          <p:cNvSpPr txBox="1"/>
          <p:nvPr/>
        </p:nvSpPr>
        <p:spPr>
          <a:xfrm>
            <a:off x="184325" y="4676700"/>
            <a:ext cx="3156600" cy="3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Rather than: </a:t>
            </a:r>
            <a:endParaRPr sz="1800">
              <a:solidFill>
                <a:schemeClr val="dk2"/>
              </a:solidFill>
            </a:endParaRPr>
          </a:p>
        </p:txBody>
      </p:sp>
      <p:pic>
        <p:nvPicPr>
          <p:cNvPr id="230" name="Google Shape;230;p11"/>
          <p:cNvPicPr preferRelativeResize="0"/>
          <p:nvPr/>
        </p:nvPicPr>
        <p:blipFill>
          <a:blip r:embed="rId6">
            <a:alphaModFix/>
          </a:blip>
          <a:stretch>
            <a:fillRect/>
          </a:stretch>
        </p:blipFill>
        <p:spPr>
          <a:xfrm>
            <a:off x="1722388" y="4676700"/>
            <a:ext cx="5238626" cy="390600"/>
          </a:xfrm>
          <a:prstGeom prst="rect">
            <a:avLst/>
          </a:prstGeom>
          <a:noFill/>
          <a:ln>
            <a:noFill/>
          </a:ln>
        </p:spPr>
      </p:pic>
      <p:sp>
        <p:nvSpPr>
          <p:cNvPr id="231" name="Google Shape;231;p11"/>
          <p:cNvSpPr txBox="1"/>
          <p:nvPr/>
        </p:nvSpPr>
        <p:spPr>
          <a:xfrm>
            <a:off x="5649100" y="1273725"/>
            <a:ext cx="3091800" cy="23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As with the within-distance W(C) as a function of the number of clusters we looked at the elbow of a decreasing curve, here the idea is to take the elbow of an increasing curve, i.e., to take the number of clusters after no significant improvement in B(C) is observed.</a:t>
            </a:r>
            <a:endParaRPr sz="12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