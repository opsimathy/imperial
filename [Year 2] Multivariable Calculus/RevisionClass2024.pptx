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-114" y="-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73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06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06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10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47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90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16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06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70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85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40309-94A6-4B0B-AB0F-5E3F7DFB66CA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2A8AA-7C25-4B8D-B17E-1B7AB150C3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06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09823" y="18871"/>
            <a:ext cx="74167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Top Tips for Exam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185" y="1129307"/>
            <a:ext cx="142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Write legibly: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8269" y="706911"/>
            <a:ext cx="62079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/>
              <a:t>Not too big!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670" y="1323537"/>
            <a:ext cx="7793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Not too small!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805" y="2012163"/>
            <a:ext cx="7877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There is no prize for using the least amount of paper or the most amount of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855" y="2514153"/>
            <a:ext cx="744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Cross out incorrect attempts only if you have also produced a correct attempt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855" y="2998509"/>
            <a:ext cx="722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Be expansive: convince the marker you understand – put in sufficient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55" y="3310240"/>
            <a:ext cx="11994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(it’s sad having to penalize a student when you know they know but the written evidence is not there)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98" y="3840824"/>
            <a:ext cx="4115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If you know your answer is wrong – say 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51" y="5405704"/>
            <a:ext cx="82533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Appreciate the difference between (A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∙∇) &amp; (∇∙A) and also between (A x ∇) &amp; (∇ x A)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9751" y="6013245"/>
                <a:ext cx="1199429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GB" dirty="0">
                    <a:solidFill>
                      <a:srgbClr val="7030A0"/>
                    </a:solidFill>
                  </a:rPr>
                  <a:t>When using summation convention remember that you must not repeat a subscript more than twice: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7030A0"/>
                    </a:solidFill>
                  </a:rPr>
                  <a:t> is meaningless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1" y="6013245"/>
                <a:ext cx="11994292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407" t="-8197" r="-305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9751" y="4847990"/>
            <a:ext cx="1173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Ensure you distinguish between symbols e.g. 2, 3 and z or d,</a:t>
            </a:r>
            <a:r>
              <a:rPr lang="el-GR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r>
              <a:rPr lang="en-GB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∂ (especially important for calculus of variations)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486" y="938718"/>
            <a:ext cx="1361878" cy="1744082"/>
          </a:xfrm>
          <a:prstGeom prst="rect">
            <a:avLst/>
          </a:prstGeom>
        </p:spPr>
      </p:pic>
      <p:pic>
        <p:nvPicPr>
          <p:cNvPr id="2052" name="Picture 4" descr="45,623 Cry Vectors, Royalty-free Vector Cry Images | Depositphotos®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830" y="2779605"/>
            <a:ext cx="1309816" cy="130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ice ways to say you're wrong in English - The London School of English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242" y="3666772"/>
            <a:ext cx="1310759" cy="122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igh Quality Tiny piece of paper Blank Meme Templat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132" y="1726068"/>
            <a:ext cx="2252012" cy="138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50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15" grpId="0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858" y="-137888"/>
            <a:ext cx="117389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5400" b="1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</a:rPr>
              <a:t>More specific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3817" y="695062"/>
            <a:ext cx="114423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dirty="0">
                <a:solidFill>
                  <a:srgbClr val="7030A0"/>
                </a:solidFill>
              </a:rPr>
              <a:t>The revision questions issued this year were also issued in previous years</a:t>
            </a:r>
          </a:p>
          <a:p>
            <a:pPr lvl="0"/>
            <a:r>
              <a:rPr lang="en-GB" dirty="0">
                <a:solidFill>
                  <a:srgbClr val="7030A0"/>
                </a:solidFill>
              </a:rPr>
              <a:t> – this is not supposed to be guiding you to what is on the exam specifically</a:t>
            </a:r>
          </a:p>
          <a:p>
            <a:pPr lvl="0"/>
            <a:r>
              <a:rPr lang="en-GB" dirty="0">
                <a:solidFill>
                  <a:srgbClr val="7030A0"/>
                </a:solidFill>
              </a:rPr>
              <a:t> – it is just giving you more practice of questions of the appropriate level of difficulty and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817" y="1691799"/>
            <a:ext cx="600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Make sure you can do all the questions on the problem 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990" y="2428573"/>
            <a:ext cx="11598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The most relevant previous exam papers are M2AA2 (2013-2020, Q1 and 2) and Math50004 2021-2023 Q1,2,3 </a:t>
            </a:r>
          </a:p>
          <a:p>
            <a:r>
              <a:rPr lang="en-GB" dirty="0">
                <a:solidFill>
                  <a:srgbClr val="7030A0"/>
                </a:solidFill>
              </a:rPr>
              <a:t>but remember that this year’s exam will always be </a:t>
            </a:r>
            <a:r>
              <a:rPr lang="en-GB" i="1" dirty="0">
                <a:solidFill>
                  <a:srgbClr val="7030A0"/>
                </a:solidFill>
              </a:rPr>
              <a:t>perceived</a:t>
            </a:r>
            <a:r>
              <a:rPr lang="en-GB" dirty="0">
                <a:solidFill>
                  <a:srgbClr val="7030A0"/>
                </a:solidFill>
              </a:rPr>
              <a:t> as the hardest ever!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990" y="3097001"/>
            <a:ext cx="635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Earlier exam papers may also be relevant but note changes in 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817" y="3621053"/>
            <a:ext cx="11055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Questions 1 and 2 and possibly part of Q3 will be on Part 1 of the course</a:t>
            </a:r>
          </a:p>
          <a:p>
            <a:r>
              <a:rPr lang="en-GB" dirty="0">
                <a:solidFill>
                  <a:srgbClr val="7030A0"/>
                </a:solidFill>
              </a:rPr>
              <a:t>e.g. summation convention, grad, div, curl, tangent planes, potentials, integral theorems (Green, divergence, Stokes),</a:t>
            </a:r>
          </a:p>
          <a:p>
            <a:r>
              <a:rPr lang="en-GB" dirty="0">
                <a:solidFill>
                  <a:srgbClr val="7030A0"/>
                </a:solidFill>
              </a:rPr>
              <a:t>Evaluation of surface, volume and path integrals.</a:t>
            </a:r>
            <a:r>
              <a:rPr lang="en-GB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990" y="4667767"/>
            <a:ext cx="458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For example for surface integrals we could use: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003" y="5046535"/>
            <a:ext cx="101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5"/>
                </a:solidFill>
              </a:rPr>
              <a:t>Parameterization using a Jacobian (scalar Jacobian for planar surfaces, vector Jacobian for curved surfaces);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90" y="5405373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Projection theorem (open surfaces);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0935" y="5415867"/>
            <a:ext cx="377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Divergence theorem (closed surfaces);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9149" y="5405373"/>
            <a:ext cx="2603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Stokes theorem (possibly)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4861" y="4175051"/>
            <a:ext cx="3166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Orthogonal coordinate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17" y="5802630"/>
            <a:ext cx="11732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At least part of Q3 will be on the Calculus of variations: Euler-Lagrange equation, unconstrained and constrained problems.</a:t>
            </a:r>
          </a:p>
          <a:p>
            <a:r>
              <a:rPr lang="en-GB" dirty="0" smtClean="0">
                <a:solidFill>
                  <a:schemeClr val="accent6">
                    <a:lumMod val="50000"/>
                  </a:schemeClr>
                </a:solidFill>
              </a:rPr>
              <a:t>Need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to recall how to solve elementary ODEs from the first </a:t>
            </a:r>
            <a:r>
              <a:rPr lang="en-GB" dirty="0" smtClean="0">
                <a:solidFill>
                  <a:schemeClr val="accent6">
                    <a:lumMod val="50000"/>
                  </a:schemeClr>
                </a:solidFill>
              </a:rPr>
              <a:t>year and how to solve integrals using elementary substitutions</a:t>
            </a:r>
          </a:p>
          <a:p>
            <a:r>
              <a:rPr lang="en-GB" dirty="0" smtClean="0">
                <a:solidFill>
                  <a:schemeClr val="accent6">
                    <a:lumMod val="50000"/>
                  </a:schemeClr>
                </a:solidFill>
              </a:rPr>
              <a:t>such as trigonometric and hyperbolic.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7708" y="1988303"/>
            <a:ext cx="997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Write out 2-3 sides of A4 summarizing the module’s key results and use this as your main revision source</a:t>
            </a:r>
          </a:p>
        </p:txBody>
      </p:sp>
    </p:spTree>
    <p:extLst>
      <p:ext uri="{BB962C8B-B14F-4D97-AF65-F5344CB8AC3E}">
        <p14:creationId xmlns:p14="http://schemas.microsoft.com/office/powerpoint/2010/main" val="323964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444</Words>
  <Application>Microsoft Office PowerPoint</Application>
  <PresentationFormat>Custom</PresentationFormat>
  <Paragraphs>33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Walton, Andrew G</dc:creator>
  <cp:lastModifiedBy>Val Walton</cp:lastModifiedBy>
  <cp:revision>19</cp:revision>
  <dcterms:created xsi:type="dcterms:W3CDTF">2021-04-26T15:57:41Z</dcterms:created>
  <dcterms:modified xsi:type="dcterms:W3CDTF">2024-04-29T11:24:08Z</dcterms:modified>
</cp:coreProperties>
</file>