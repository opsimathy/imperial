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1" r:id="rId2"/>
    <p:sldId id="272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22A3E55-1EBF-4B62-E261-DA03852841C9}" name="Kestner, Charlotte H" initials="KCH" userId="Kestner, Charlotte H" providerId="None"/>
  <p188:author id="{5F50969B-8E8F-994D-1164-C1FD0B46468A}" name="Toby Andrew" initials="TA" userId="MCYENHqyGlVyYV26DzxcmIAXGfk+jQRcTTtccV0cEts=" providerId="None"/>
  <p188:author id="{CCCA71D0-3491-E66E-0E23-5C2DC97EE5C3}" name="Amanda Sackur" initials="AS" userId="ExuCnWiHvHgPpN/FhwzLrJsRE94CXHAc5E25hpvCnJc=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9683" autoAdjust="0"/>
  </p:normalViewPr>
  <p:slideViewPr>
    <p:cSldViewPr snapToGrid="0">
      <p:cViewPr varScale="1">
        <p:scale>
          <a:sx n="70" d="100"/>
          <a:sy n="70" d="100"/>
        </p:scale>
        <p:origin x="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tner, Charlotte H" userId="83bbdfb7-af8f-4847-b4c4-0e0ad0c401bf" providerId="ADAL" clId="{C3AE0451-BCC8-4C22-8F79-0D676F49AF23}"/>
    <pc:docChg chg="custSel modSld">
      <pc:chgData name="Kestner, Charlotte H" userId="83bbdfb7-af8f-4847-b4c4-0e0ad0c401bf" providerId="ADAL" clId="{C3AE0451-BCC8-4C22-8F79-0D676F49AF23}" dt="2022-11-14T14:25:33.211" v="155"/>
      <pc:docMkLst>
        <pc:docMk/>
      </pc:docMkLst>
      <pc:sldChg chg="modSp mod delCm modCm">
        <pc:chgData name="Kestner, Charlotte H" userId="83bbdfb7-af8f-4847-b4c4-0e0ad0c401bf" providerId="ADAL" clId="{C3AE0451-BCC8-4C22-8F79-0D676F49AF23}" dt="2022-11-14T14:25:33.211" v="155"/>
        <pc:sldMkLst>
          <pc:docMk/>
          <pc:sldMk cId="2013052750" sldId="272"/>
        </pc:sldMkLst>
        <pc:spChg chg="mod">
          <ac:chgData name="Kestner, Charlotte H" userId="83bbdfb7-af8f-4847-b4c4-0e0ad0c401bf" providerId="ADAL" clId="{C3AE0451-BCC8-4C22-8F79-0D676F49AF23}" dt="2022-11-14T14:22:39.599" v="4" actId="20577"/>
          <ac:spMkLst>
            <pc:docMk/>
            <pc:sldMk cId="2013052750" sldId="272"/>
            <ac:spMk id="3" creationId="{9DB32CA1-E04C-FE14-543F-05121D39AC6E}"/>
          </ac:spMkLst>
        </pc:spChg>
      </pc:sldChg>
      <pc:sldChg chg="modSp mod delCm modCm">
        <pc:chgData name="Kestner, Charlotte H" userId="83bbdfb7-af8f-4847-b4c4-0e0ad0c401bf" providerId="ADAL" clId="{C3AE0451-BCC8-4C22-8F79-0D676F49AF23}" dt="2022-11-14T14:24:19.287" v="151" actId="20577"/>
        <pc:sldMkLst>
          <pc:docMk/>
          <pc:sldMk cId="838647944" sldId="273"/>
        </pc:sldMkLst>
        <pc:spChg chg="mod">
          <ac:chgData name="Kestner, Charlotte H" userId="83bbdfb7-af8f-4847-b4c4-0e0ad0c401bf" providerId="ADAL" clId="{C3AE0451-BCC8-4C22-8F79-0D676F49AF23}" dt="2022-11-14T14:24:19.287" v="151" actId="20577"/>
          <ac:spMkLst>
            <pc:docMk/>
            <pc:sldMk cId="838647944" sldId="273"/>
            <ac:spMk id="3" creationId="{0664CEAC-CE42-0CC3-8AF7-4BC679E4137B}"/>
          </ac:spMkLst>
        </pc:spChg>
      </pc:sldChg>
      <pc:sldChg chg="delCm">
        <pc:chgData name="Kestner, Charlotte H" userId="83bbdfb7-af8f-4847-b4c4-0e0ad0c401bf" providerId="ADAL" clId="{C3AE0451-BCC8-4C22-8F79-0D676F49AF23}" dt="2022-11-14T14:25:15.706" v="154"/>
        <pc:sldMkLst>
          <pc:docMk/>
          <pc:sldMk cId="1602788534" sldId="27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C6338E-1431-41ED-A9EC-181A55A0038E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B066DB-5C15-47A5-A26F-8AAF89A5A601}">
      <dgm:prSet/>
      <dgm:spPr/>
      <dgm:t>
        <a:bodyPr/>
        <a:lstStyle/>
        <a:p>
          <a:r>
            <a:rPr lang="en-US"/>
            <a:t>Support</a:t>
          </a:r>
        </a:p>
      </dgm:t>
    </dgm:pt>
    <dgm:pt modelId="{34DE552B-39C4-4754-8379-43DB65E1A374}" type="parTrans" cxnId="{0D9686DA-98E2-4FCD-9629-0562916B369F}">
      <dgm:prSet/>
      <dgm:spPr/>
      <dgm:t>
        <a:bodyPr/>
        <a:lstStyle/>
        <a:p>
          <a:endParaRPr lang="en-US"/>
        </a:p>
      </dgm:t>
    </dgm:pt>
    <dgm:pt modelId="{EB80A470-78E0-4235-82CC-2DC1F6D4A288}" type="sibTrans" cxnId="{0D9686DA-98E2-4FCD-9629-0562916B369F}">
      <dgm:prSet/>
      <dgm:spPr/>
      <dgm:t>
        <a:bodyPr/>
        <a:lstStyle/>
        <a:p>
          <a:endParaRPr lang="en-US"/>
        </a:p>
      </dgm:t>
    </dgm:pt>
    <dgm:pt modelId="{3DD77AB2-5178-4E36-AE85-5F58976BAB4C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/>
            <a:t>Support our strike &amp; join us on the picket lines</a:t>
          </a:r>
        </a:p>
      </dgm:t>
    </dgm:pt>
    <dgm:pt modelId="{A4C006DC-439B-400B-88B5-3D89AEC8D206}" type="parTrans" cxnId="{69856E1C-BB3C-422F-B7ED-4879B8EB1E74}">
      <dgm:prSet/>
      <dgm:spPr/>
      <dgm:t>
        <a:bodyPr/>
        <a:lstStyle/>
        <a:p>
          <a:endParaRPr lang="en-US"/>
        </a:p>
      </dgm:t>
    </dgm:pt>
    <dgm:pt modelId="{EA25A53B-8239-417F-B70E-71602F378655}" type="sibTrans" cxnId="{69856E1C-BB3C-422F-B7ED-4879B8EB1E74}">
      <dgm:prSet/>
      <dgm:spPr/>
      <dgm:t>
        <a:bodyPr/>
        <a:lstStyle/>
        <a:p>
          <a:endParaRPr lang="en-US"/>
        </a:p>
      </dgm:t>
    </dgm:pt>
    <dgm:pt modelId="{55C490B7-3068-40C2-944B-8D576F4B9B6F}">
      <dgm:prSet/>
      <dgm:spPr/>
      <dgm:t>
        <a:bodyPr/>
        <a:lstStyle/>
        <a:p>
          <a:r>
            <a:rPr lang="en-US"/>
            <a:t>Email</a:t>
          </a:r>
        </a:p>
      </dgm:t>
    </dgm:pt>
    <dgm:pt modelId="{24862D19-1BF8-4ECB-8BC0-6812A1790E23}" type="parTrans" cxnId="{1BF9F0A3-A363-4F6C-A2AF-AF0C9F120F77}">
      <dgm:prSet/>
      <dgm:spPr/>
      <dgm:t>
        <a:bodyPr/>
        <a:lstStyle/>
        <a:p>
          <a:endParaRPr lang="en-US"/>
        </a:p>
      </dgm:t>
    </dgm:pt>
    <dgm:pt modelId="{C7BE3CC9-A70A-44EF-999C-7EB1D54ABF7A}" type="sibTrans" cxnId="{1BF9F0A3-A363-4F6C-A2AF-AF0C9F120F77}">
      <dgm:prSet/>
      <dgm:spPr/>
      <dgm:t>
        <a:bodyPr/>
        <a:lstStyle/>
        <a:p>
          <a:endParaRPr lang="en-US"/>
        </a:p>
      </dgm:t>
    </dgm:pt>
    <dgm:pt modelId="{25D9AAC0-8A08-43B6-8A9E-46DFB5CE53E7}">
      <dgm:prSet custT="1"/>
      <dgm:spPr>
        <a:solidFill>
          <a:schemeClr val="accent2"/>
        </a:solidFill>
      </dgm:spPr>
      <dgm:t>
        <a:bodyPr/>
        <a:lstStyle/>
        <a:p>
          <a:r>
            <a:rPr lang="en-US" sz="1600" dirty="0"/>
            <a:t>Email Provost (provost@imperial.ac.uk) and President (president@imperial.ac.uk) to ask them:</a:t>
          </a:r>
        </a:p>
      </dgm:t>
    </dgm:pt>
    <dgm:pt modelId="{7521C351-2310-4098-BF0F-B55F573EE71D}" type="parTrans" cxnId="{F3458989-E95A-4DDA-88CB-528C13A2C78B}">
      <dgm:prSet/>
      <dgm:spPr/>
      <dgm:t>
        <a:bodyPr/>
        <a:lstStyle/>
        <a:p>
          <a:endParaRPr lang="en-US"/>
        </a:p>
      </dgm:t>
    </dgm:pt>
    <dgm:pt modelId="{FD6E8678-3520-4AA2-89A3-C3013C7581A7}" type="sibTrans" cxnId="{F3458989-E95A-4DDA-88CB-528C13A2C78B}">
      <dgm:prSet/>
      <dgm:spPr/>
      <dgm:t>
        <a:bodyPr/>
        <a:lstStyle/>
        <a:p>
          <a:endParaRPr lang="en-US"/>
        </a:p>
      </dgm:t>
    </dgm:pt>
    <dgm:pt modelId="{EF8FF3AE-4F5C-468F-B931-FAD3680E01BD}">
      <dgm:prSet custT="1"/>
      <dgm:spPr>
        <a:solidFill>
          <a:schemeClr val="accent2"/>
        </a:solidFill>
      </dgm:spPr>
      <dgm:t>
        <a:bodyPr/>
        <a:lstStyle/>
        <a:p>
          <a:r>
            <a:rPr lang="en-US" sz="1600"/>
            <a:t>to give staff a fair pay rise.</a:t>
          </a:r>
        </a:p>
      </dgm:t>
    </dgm:pt>
    <dgm:pt modelId="{C4A59F4A-78E2-4BE0-9112-2D8813384DFE}" type="parTrans" cxnId="{FDAA2D92-3ABC-4C03-8710-69D6DAD80D37}">
      <dgm:prSet/>
      <dgm:spPr/>
      <dgm:t>
        <a:bodyPr/>
        <a:lstStyle/>
        <a:p>
          <a:endParaRPr lang="en-US"/>
        </a:p>
      </dgm:t>
    </dgm:pt>
    <dgm:pt modelId="{21F197BD-BBC9-4CC0-9FE2-D9B6D97A3B8F}" type="sibTrans" cxnId="{FDAA2D92-3ABC-4C03-8710-69D6DAD80D37}">
      <dgm:prSet/>
      <dgm:spPr/>
      <dgm:t>
        <a:bodyPr/>
        <a:lstStyle/>
        <a:p>
          <a:endParaRPr lang="en-US"/>
        </a:p>
      </dgm:t>
    </dgm:pt>
    <dgm:pt modelId="{B1B3F34A-E81E-4015-9279-8C4F60B60F40}">
      <dgm:prSet custT="1"/>
      <dgm:spPr>
        <a:solidFill>
          <a:schemeClr val="accent2"/>
        </a:solidFill>
      </dgm:spPr>
      <dgm:t>
        <a:bodyPr/>
        <a:lstStyle/>
        <a:p>
          <a:r>
            <a:rPr lang="en-US" sz="1600" dirty="0"/>
            <a:t>Lobby the UUK to fight for the reversal of pension cuts.</a:t>
          </a:r>
        </a:p>
      </dgm:t>
    </dgm:pt>
    <dgm:pt modelId="{D57E432A-7BC4-4FF7-BE82-553960174EAD}" type="parTrans" cxnId="{2885F520-1268-4178-81A3-25913A0238C2}">
      <dgm:prSet/>
      <dgm:spPr/>
      <dgm:t>
        <a:bodyPr/>
        <a:lstStyle/>
        <a:p>
          <a:endParaRPr lang="en-US"/>
        </a:p>
      </dgm:t>
    </dgm:pt>
    <dgm:pt modelId="{87DE38BB-3EAF-49BD-A26E-45E8FB28A601}" type="sibTrans" cxnId="{2885F520-1268-4178-81A3-25913A0238C2}">
      <dgm:prSet/>
      <dgm:spPr/>
      <dgm:t>
        <a:bodyPr/>
        <a:lstStyle/>
        <a:p>
          <a:endParaRPr lang="en-US"/>
        </a:p>
      </dgm:t>
    </dgm:pt>
    <dgm:pt modelId="{59EA02CD-55C4-4CE5-9EA6-783F2712B459}">
      <dgm:prSet/>
      <dgm:spPr/>
      <dgm:t>
        <a:bodyPr/>
        <a:lstStyle/>
        <a:p>
          <a:r>
            <a:rPr lang="en-US"/>
            <a:t>Ask</a:t>
          </a:r>
        </a:p>
      </dgm:t>
    </dgm:pt>
    <dgm:pt modelId="{25F301A8-5834-4D09-B95A-0EEDB8224141}" type="parTrans" cxnId="{5369B777-1C2B-4866-A83B-0A61353082A1}">
      <dgm:prSet/>
      <dgm:spPr/>
      <dgm:t>
        <a:bodyPr/>
        <a:lstStyle/>
        <a:p>
          <a:endParaRPr lang="en-US"/>
        </a:p>
      </dgm:t>
    </dgm:pt>
    <dgm:pt modelId="{CC89AE59-8271-40C6-8DBC-C8CDFC2E7CF2}" type="sibTrans" cxnId="{5369B777-1C2B-4866-A83B-0A61353082A1}">
      <dgm:prSet/>
      <dgm:spPr/>
      <dgm:t>
        <a:bodyPr/>
        <a:lstStyle/>
        <a:p>
          <a:endParaRPr lang="en-US"/>
        </a:p>
      </dgm:t>
    </dgm:pt>
    <dgm:pt modelId="{2BBE1A81-4776-4AF9-ACDB-DD0ACB139943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dirty="0"/>
            <a:t>Ask your other lecturers/personal tutors </a:t>
          </a:r>
          <a:r>
            <a:rPr lang="en-US" dirty="0" err="1"/>
            <a:t>etc</a:t>
          </a:r>
          <a:r>
            <a:rPr lang="en-US" dirty="0"/>
            <a:t> to support the strike for your sake.</a:t>
          </a:r>
        </a:p>
      </dgm:t>
    </dgm:pt>
    <dgm:pt modelId="{DF64A1F6-B18E-4484-BDC6-42C626FA4A12}" type="parTrans" cxnId="{16201C8B-890A-415C-A1FF-8CE42EDA526F}">
      <dgm:prSet/>
      <dgm:spPr/>
      <dgm:t>
        <a:bodyPr/>
        <a:lstStyle/>
        <a:p>
          <a:endParaRPr lang="en-US"/>
        </a:p>
      </dgm:t>
    </dgm:pt>
    <dgm:pt modelId="{7D0A7564-FD04-4A82-998B-7364FC472D23}" type="sibTrans" cxnId="{16201C8B-890A-415C-A1FF-8CE42EDA526F}">
      <dgm:prSet/>
      <dgm:spPr/>
      <dgm:t>
        <a:bodyPr/>
        <a:lstStyle/>
        <a:p>
          <a:endParaRPr lang="en-US"/>
        </a:p>
      </dgm:t>
    </dgm:pt>
    <dgm:pt modelId="{08FDA4CA-8A2E-4FA5-8461-219C06E48549}" type="pres">
      <dgm:prSet presAssocID="{14C6338E-1431-41ED-A9EC-181A55A0038E}" presName="Name0" presStyleCnt="0">
        <dgm:presLayoutVars>
          <dgm:dir/>
          <dgm:animLvl val="lvl"/>
          <dgm:resizeHandles val="exact"/>
        </dgm:presLayoutVars>
      </dgm:prSet>
      <dgm:spPr/>
    </dgm:pt>
    <dgm:pt modelId="{9F1C8DA7-CA88-4D58-9304-5787E74226D8}" type="pres">
      <dgm:prSet presAssocID="{FFB066DB-5C15-47A5-A26F-8AAF89A5A601}" presName="linNode" presStyleCnt="0"/>
      <dgm:spPr/>
    </dgm:pt>
    <dgm:pt modelId="{44A7FFFF-5B8D-4793-9C00-CE2DAE8D16A5}" type="pres">
      <dgm:prSet presAssocID="{FFB066DB-5C15-47A5-A26F-8AAF89A5A601}" presName="parentText" presStyleLbl="solidFgAcc1" presStyleIdx="0" presStyleCnt="3">
        <dgm:presLayoutVars>
          <dgm:chMax val="1"/>
          <dgm:bulletEnabled/>
        </dgm:presLayoutVars>
      </dgm:prSet>
      <dgm:spPr/>
    </dgm:pt>
    <dgm:pt modelId="{F4644940-4877-4639-8D7D-9401ED21B0A7}" type="pres">
      <dgm:prSet presAssocID="{FFB066DB-5C15-47A5-A26F-8AAF89A5A601}" presName="descendantText" presStyleLbl="alignNode1" presStyleIdx="0" presStyleCnt="3">
        <dgm:presLayoutVars>
          <dgm:bulletEnabled/>
        </dgm:presLayoutVars>
      </dgm:prSet>
      <dgm:spPr/>
    </dgm:pt>
    <dgm:pt modelId="{1F611D2D-E881-4187-A648-F70A875B62BE}" type="pres">
      <dgm:prSet presAssocID="{EB80A470-78E0-4235-82CC-2DC1F6D4A288}" presName="sp" presStyleCnt="0"/>
      <dgm:spPr/>
    </dgm:pt>
    <dgm:pt modelId="{DACA0F39-B35E-49FA-B3BC-BBABDC2D367A}" type="pres">
      <dgm:prSet presAssocID="{55C490B7-3068-40C2-944B-8D576F4B9B6F}" presName="linNode" presStyleCnt="0"/>
      <dgm:spPr/>
    </dgm:pt>
    <dgm:pt modelId="{2D11EB7C-1AA8-4CC5-8234-98DFD7508BC0}" type="pres">
      <dgm:prSet presAssocID="{55C490B7-3068-40C2-944B-8D576F4B9B6F}" presName="parentText" presStyleLbl="solidFgAcc1" presStyleIdx="1" presStyleCnt="3">
        <dgm:presLayoutVars>
          <dgm:chMax val="1"/>
          <dgm:bulletEnabled/>
        </dgm:presLayoutVars>
      </dgm:prSet>
      <dgm:spPr/>
    </dgm:pt>
    <dgm:pt modelId="{2A84A07E-281D-4D18-822B-E3EC9B363D37}" type="pres">
      <dgm:prSet presAssocID="{55C490B7-3068-40C2-944B-8D576F4B9B6F}" presName="descendantText" presStyleLbl="alignNode1" presStyleIdx="1" presStyleCnt="3">
        <dgm:presLayoutVars>
          <dgm:bulletEnabled/>
        </dgm:presLayoutVars>
      </dgm:prSet>
      <dgm:spPr/>
    </dgm:pt>
    <dgm:pt modelId="{3F4D4871-6EB1-4F20-9976-BE20B8EB8730}" type="pres">
      <dgm:prSet presAssocID="{C7BE3CC9-A70A-44EF-999C-7EB1D54ABF7A}" presName="sp" presStyleCnt="0"/>
      <dgm:spPr/>
    </dgm:pt>
    <dgm:pt modelId="{CD8729A0-EEBB-485F-ABA0-8C71B9EA0E88}" type="pres">
      <dgm:prSet presAssocID="{59EA02CD-55C4-4CE5-9EA6-783F2712B459}" presName="linNode" presStyleCnt="0"/>
      <dgm:spPr/>
    </dgm:pt>
    <dgm:pt modelId="{C0CF038D-B2A2-4C72-AFEF-06D01DB7A9F1}" type="pres">
      <dgm:prSet presAssocID="{59EA02CD-55C4-4CE5-9EA6-783F2712B459}" presName="parentText" presStyleLbl="solidFgAcc1" presStyleIdx="2" presStyleCnt="3">
        <dgm:presLayoutVars>
          <dgm:chMax val="1"/>
          <dgm:bulletEnabled/>
        </dgm:presLayoutVars>
      </dgm:prSet>
      <dgm:spPr/>
    </dgm:pt>
    <dgm:pt modelId="{9CB45B5D-BFAC-4C56-A6CB-E7F4B58D55CB}" type="pres">
      <dgm:prSet presAssocID="{59EA02CD-55C4-4CE5-9EA6-783F2712B459}" presName="descendantText" presStyleLbl="alignNode1" presStyleIdx="2" presStyleCnt="3">
        <dgm:presLayoutVars>
          <dgm:bulletEnabled/>
        </dgm:presLayoutVars>
      </dgm:prSet>
      <dgm:spPr/>
    </dgm:pt>
  </dgm:ptLst>
  <dgm:cxnLst>
    <dgm:cxn modelId="{69856E1C-BB3C-422F-B7ED-4879B8EB1E74}" srcId="{FFB066DB-5C15-47A5-A26F-8AAF89A5A601}" destId="{3DD77AB2-5178-4E36-AE85-5F58976BAB4C}" srcOrd="0" destOrd="0" parTransId="{A4C006DC-439B-400B-88B5-3D89AEC8D206}" sibTransId="{EA25A53B-8239-417F-B70E-71602F378655}"/>
    <dgm:cxn modelId="{2885F520-1268-4178-81A3-25913A0238C2}" srcId="{25D9AAC0-8A08-43B6-8A9E-46DFB5CE53E7}" destId="{B1B3F34A-E81E-4015-9279-8C4F60B60F40}" srcOrd="1" destOrd="0" parTransId="{D57E432A-7BC4-4FF7-BE82-553960174EAD}" sibTransId="{87DE38BB-3EAF-49BD-A26E-45E8FB28A601}"/>
    <dgm:cxn modelId="{833F6425-91AE-47F9-9FF4-FC23D6410ECE}" type="presOf" srcId="{2BBE1A81-4776-4AF9-ACDB-DD0ACB139943}" destId="{9CB45B5D-BFAC-4C56-A6CB-E7F4B58D55CB}" srcOrd="0" destOrd="0" presId="urn:microsoft.com/office/officeart/2016/7/layout/VerticalHollowActionList"/>
    <dgm:cxn modelId="{2486EE2E-630F-4F3E-B7BB-D632AEFA1E27}" type="presOf" srcId="{FFB066DB-5C15-47A5-A26F-8AAF89A5A601}" destId="{44A7FFFF-5B8D-4793-9C00-CE2DAE8D16A5}" srcOrd="0" destOrd="0" presId="urn:microsoft.com/office/officeart/2016/7/layout/VerticalHollowActionList"/>
    <dgm:cxn modelId="{E4D2AF66-BF9A-4008-8231-BDD064214516}" type="presOf" srcId="{25D9AAC0-8A08-43B6-8A9E-46DFB5CE53E7}" destId="{2A84A07E-281D-4D18-822B-E3EC9B363D37}" srcOrd="0" destOrd="0" presId="urn:microsoft.com/office/officeart/2016/7/layout/VerticalHollowActionList"/>
    <dgm:cxn modelId="{AC9EE64D-E89B-4B22-AF44-716D6B25CAF4}" type="presOf" srcId="{14C6338E-1431-41ED-A9EC-181A55A0038E}" destId="{08FDA4CA-8A2E-4FA5-8461-219C06E48549}" srcOrd="0" destOrd="0" presId="urn:microsoft.com/office/officeart/2016/7/layout/VerticalHollowActionList"/>
    <dgm:cxn modelId="{75C22450-CA50-4ACD-AAA9-6D259651A690}" type="presOf" srcId="{B1B3F34A-E81E-4015-9279-8C4F60B60F40}" destId="{2A84A07E-281D-4D18-822B-E3EC9B363D37}" srcOrd="0" destOrd="2" presId="urn:microsoft.com/office/officeart/2016/7/layout/VerticalHollowActionList"/>
    <dgm:cxn modelId="{5369B777-1C2B-4866-A83B-0A61353082A1}" srcId="{14C6338E-1431-41ED-A9EC-181A55A0038E}" destId="{59EA02CD-55C4-4CE5-9EA6-783F2712B459}" srcOrd="2" destOrd="0" parTransId="{25F301A8-5834-4D09-B95A-0EEDB8224141}" sibTransId="{CC89AE59-8271-40C6-8DBC-C8CDFC2E7CF2}"/>
    <dgm:cxn modelId="{F3458989-E95A-4DDA-88CB-528C13A2C78B}" srcId="{55C490B7-3068-40C2-944B-8D576F4B9B6F}" destId="{25D9AAC0-8A08-43B6-8A9E-46DFB5CE53E7}" srcOrd="0" destOrd="0" parTransId="{7521C351-2310-4098-BF0F-B55F573EE71D}" sibTransId="{FD6E8678-3520-4AA2-89A3-C3013C7581A7}"/>
    <dgm:cxn modelId="{16201C8B-890A-415C-A1FF-8CE42EDA526F}" srcId="{59EA02CD-55C4-4CE5-9EA6-783F2712B459}" destId="{2BBE1A81-4776-4AF9-ACDB-DD0ACB139943}" srcOrd="0" destOrd="0" parTransId="{DF64A1F6-B18E-4484-BDC6-42C626FA4A12}" sibTransId="{7D0A7564-FD04-4A82-998B-7364FC472D23}"/>
    <dgm:cxn modelId="{FDAA2D92-3ABC-4C03-8710-69D6DAD80D37}" srcId="{25D9AAC0-8A08-43B6-8A9E-46DFB5CE53E7}" destId="{EF8FF3AE-4F5C-468F-B931-FAD3680E01BD}" srcOrd="0" destOrd="0" parTransId="{C4A59F4A-78E2-4BE0-9112-2D8813384DFE}" sibTransId="{21F197BD-BBC9-4CC0-9FE2-D9B6D97A3B8F}"/>
    <dgm:cxn modelId="{1BF9F0A3-A363-4F6C-A2AF-AF0C9F120F77}" srcId="{14C6338E-1431-41ED-A9EC-181A55A0038E}" destId="{55C490B7-3068-40C2-944B-8D576F4B9B6F}" srcOrd="1" destOrd="0" parTransId="{24862D19-1BF8-4ECB-8BC0-6812A1790E23}" sibTransId="{C7BE3CC9-A70A-44EF-999C-7EB1D54ABF7A}"/>
    <dgm:cxn modelId="{603C51A6-D4B2-451A-84C1-3203E11F3CB5}" type="presOf" srcId="{3DD77AB2-5178-4E36-AE85-5F58976BAB4C}" destId="{F4644940-4877-4639-8D7D-9401ED21B0A7}" srcOrd="0" destOrd="0" presId="urn:microsoft.com/office/officeart/2016/7/layout/VerticalHollowActionList"/>
    <dgm:cxn modelId="{327D04B4-1FE7-4447-9A2A-76FBFFE9F84A}" type="presOf" srcId="{EF8FF3AE-4F5C-468F-B931-FAD3680E01BD}" destId="{2A84A07E-281D-4D18-822B-E3EC9B363D37}" srcOrd="0" destOrd="1" presId="urn:microsoft.com/office/officeart/2016/7/layout/VerticalHollowActionList"/>
    <dgm:cxn modelId="{9A5C42D1-7F7A-47BB-8731-256625646B1E}" type="presOf" srcId="{59EA02CD-55C4-4CE5-9EA6-783F2712B459}" destId="{C0CF038D-B2A2-4C72-AFEF-06D01DB7A9F1}" srcOrd="0" destOrd="0" presId="urn:microsoft.com/office/officeart/2016/7/layout/VerticalHollowActionList"/>
    <dgm:cxn modelId="{0D9686DA-98E2-4FCD-9629-0562916B369F}" srcId="{14C6338E-1431-41ED-A9EC-181A55A0038E}" destId="{FFB066DB-5C15-47A5-A26F-8AAF89A5A601}" srcOrd="0" destOrd="0" parTransId="{34DE552B-39C4-4754-8379-43DB65E1A374}" sibTransId="{EB80A470-78E0-4235-82CC-2DC1F6D4A288}"/>
    <dgm:cxn modelId="{F2A26DDF-4D9F-4E77-8B94-78BF450CEC36}" type="presOf" srcId="{55C490B7-3068-40C2-944B-8D576F4B9B6F}" destId="{2D11EB7C-1AA8-4CC5-8234-98DFD7508BC0}" srcOrd="0" destOrd="0" presId="urn:microsoft.com/office/officeart/2016/7/layout/VerticalHollowActionList"/>
    <dgm:cxn modelId="{424B55E5-D83D-4D99-9D6B-E4FFDDDEF63B}" type="presParOf" srcId="{08FDA4CA-8A2E-4FA5-8461-219C06E48549}" destId="{9F1C8DA7-CA88-4D58-9304-5787E74226D8}" srcOrd="0" destOrd="0" presId="urn:microsoft.com/office/officeart/2016/7/layout/VerticalHollowActionList"/>
    <dgm:cxn modelId="{00420093-A7AA-48DE-837E-38AF410DBB60}" type="presParOf" srcId="{9F1C8DA7-CA88-4D58-9304-5787E74226D8}" destId="{44A7FFFF-5B8D-4793-9C00-CE2DAE8D16A5}" srcOrd="0" destOrd="0" presId="urn:microsoft.com/office/officeart/2016/7/layout/VerticalHollowActionList"/>
    <dgm:cxn modelId="{CF442685-E12F-4211-BBD5-9460B097FC6D}" type="presParOf" srcId="{9F1C8DA7-CA88-4D58-9304-5787E74226D8}" destId="{F4644940-4877-4639-8D7D-9401ED21B0A7}" srcOrd="1" destOrd="0" presId="urn:microsoft.com/office/officeart/2016/7/layout/VerticalHollowActionList"/>
    <dgm:cxn modelId="{497065E2-D40D-4649-B60C-E62BBD878760}" type="presParOf" srcId="{08FDA4CA-8A2E-4FA5-8461-219C06E48549}" destId="{1F611D2D-E881-4187-A648-F70A875B62BE}" srcOrd="1" destOrd="0" presId="urn:microsoft.com/office/officeart/2016/7/layout/VerticalHollowActionList"/>
    <dgm:cxn modelId="{1D3D30E2-787F-4839-AD68-05E28B46BB64}" type="presParOf" srcId="{08FDA4CA-8A2E-4FA5-8461-219C06E48549}" destId="{DACA0F39-B35E-49FA-B3BC-BBABDC2D367A}" srcOrd="2" destOrd="0" presId="urn:microsoft.com/office/officeart/2016/7/layout/VerticalHollowActionList"/>
    <dgm:cxn modelId="{6D606C07-F338-4A46-A8AC-E1077418012E}" type="presParOf" srcId="{DACA0F39-B35E-49FA-B3BC-BBABDC2D367A}" destId="{2D11EB7C-1AA8-4CC5-8234-98DFD7508BC0}" srcOrd="0" destOrd="0" presId="urn:microsoft.com/office/officeart/2016/7/layout/VerticalHollowActionList"/>
    <dgm:cxn modelId="{CE07F059-9591-44FB-9603-2AD996FBE597}" type="presParOf" srcId="{DACA0F39-B35E-49FA-B3BC-BBABDC2D367A}" destId="{2A84A07E-281D-4D18-822B-E3EC9B363D37}" srcOrd="1" destOrd="0" presId="urn:microsoft.com/office/officeart/2016/7/layout/VerticalHollowActionList"/>
    <dgm:cxn modelId="{B86C0E5E-5724-486B-92B3-41246B46317C}" type="presParOf" srcId="{08FDA4CA-8A2E-4FA5-8461-219C06E48549}" destId="{3F4D4871-6EB1-4F20-9976-BE20B8EB8730}" srcOrd="3" destOrd="0" presId="urn:microsoft.com/office/officeart/2016/7/layout/VerticalHollowActionList"/>
    <dgm:cxn modelId="{1A48E1C2-2A17-424A-B7AD-42B2AC009261}" type="presParOf" srcId="{08FDA4CA-8A2E-4FA5-8461-219C06E48549}" destId="{CD8729A0-EEBB-485F-ABA0-8C71B9EA0E88}" srcOrd="4" destOrd="0" presId="urn:microsoft.com/office/officeart/2016/7/layout/VerticalHollowActionList"/>
    <dgm:cxn modelId="{76BB565F-220F-400A-9C13-2B6A7CC4F2B1}" type="presParOf" srcId="{CD8729A0-EEBB-485F-ABA0-8C71B9EA0E88}" destId="{C0CF038D-B2A2-4C72-AFEF-06D01DB7A9F1}" srcOrd="0" destOrd="0" presId="urn:microsoft.com/office/officeart/2016/7/layout/VerticalHollowActionList"/>
    <dgm:cxn modelId="{B807A8F8-4CCF-4F45-8ACE-DB0761CBAED5}" type="presParOf" srcId="{CD8729A0-EEBB-485F-ABA0-8C71B9EA0E88}" destId="{9CB45B5D-BFAC-4C56-A6CB-E7F4B58D55CB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44940-4877-4639-8D7D-9401ED21B0A7}">
      <dsp:nvSpPr>
        <dsp:cNvPr id="0" name=""/>
        <dsp:cNvSpPr/>
      </dsp:nvSpPr>
      <dsp:spPr>
        <a:xfrm>
          <a:off x="1244867" y="1697"/>
          <a:ext cx="4979468" cy="1739788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616" tIns="441906" rIns="96616" bIns="4419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Support our strike &amp; join us on the picket lines</a:t>
          </a:r>
        </a:p>
      </dsp:txBody>
      <dsp:txXfrm>
        <a:off x="1244867" y="1697"/>
        <a:ext cx="4979468" cy="1739788"/>
      </dsp:txXfrm>
    </dsp:sp>
    <dsp:sp modelId="{44A7FFFF-5B8D-4793-9C00-CE2DAE8D16A5}">
      <dsp:nvSpPr>
        <dsp:cNvPr id="0" name=""/>
        <dsp:cNvSpPr/>
      </dsp:nvSpPr>
      <dsp:spPr>
        <a:xfrm>
          <a:off x="0" y="1697"/>
          <a:ext cx="1244867" cy="17397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74" tIns="171852" rIns="65874" bIns="17185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Support</a:t>
          </a:r>
        </a:p>
      </dsp:txBody>
      <dsp:txXfrm>
        <a:off x="0" y="1697"/>
        <a:ext cx="1244867" cy="1739788"/>
      </dsp:txXfrm>
    </dsp:sp>
    <dsp:sp modelId="{2A84A07E-281D-4D18-822B-E3EC9B363D37}">
      <dsp:nvSpPr>
        <dsp:cNvPr id="0" name=""/>
        <dsp:cNvSpPr/>
      </dsp:nvSpPr>
      <dsp:spPr>
        <a:xfrm>
          <a:off x="1244867" y="1845873"/>
          <a:ext cx="4979468" cy="1739788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616" tIns="441906" rIns="96616" bIns="441906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Email Provost (provost@imperial.ac.uk) and President (president@imperial.ac.uk) to ask them: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to give staff a fair pay rise.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Lobby the UUK to fight for the reversal of pension cuts.</a:t>
          </a:r>
        </a:p>
      </dsp:txBody>
      <dsp:txXfrm>
        <a:off x="1244867" y="1845873"/>
        <a:ext cx="4979468" cy="1739788"/>
      </dsp:txXfrm>
    </dsp:sp>
    <dsp:sp modelId="{2D11EB7C-1AA8-4CC5-8234-98DFD7508BC0}">
      <dsp:nvSpPr>
        <dsp:cNvPr id="0" name=""/>
        <dsp:cNvSpPr/>
      </dsp:nvSpPr>
      <dsp:spPr>
        <a:xfrm>
          <a:off x="0" y="1845873"/>
          <a:ext cx="1244867" cy="17397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74" tIns="171852" rIns="65874" bIns="17185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Email</a:t>
          </a:r>
        </a:p>
      </dsp:txBody>
      <dsp:txXfrm>
        <a:off x="0" y="1845873"/>
        <a:ext cx="1244867" cy="1739788"/>
      </dsp:txXfrm>
    </dsp:sp>
    <dsp:sp modelId="{9CB45B5D-BFAC-4C56-A6CB-E7F4B58D55CB}">
      <dsp:nvSpPr>
        <dsp:cNvPr id="0" name=""/>
        <dsp:cNvSpPr/>
      </dsp:nvSpPr>
      <dsp:spPr>
        <a:xfrm>
          <a:off x="1244867" y="3690049"/>
          <a:ext cx="4979468" cy="1739788"/>
        </a:xfrm>
        <a:prstGeom prst="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616" tIns="441906" rIns="96616" bIns="4419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Ask your other lecturers/personal tutors </a:t>
          </a:r>
          <a:r>
            <a:rPr lang="en-US" sz="2200" kern="1200" dirty="0" err="1"/>
            <a:t>etc</a:t>
          </a:r>
          <a:r>
            <a:rPr lang="en-US" sz="2200" kern="1200" dirty="0"/>
            <a:t> to support the strike for your sake.</a:t>
          </a:r>
        </a:p>
      </dsp:txBody>
      <dsp:txXfrm>
        <a:off x="1244867" y="3690049"/>
        <a:ext cx="4979468" cy="1739788"/>
      </dsp:txXfrm>
    </dsp:sp>
    <dsp:sp modelId="{C0CF038D-B2A2-4C72-AFEF-06D01DB7A9F1}">
      <dsp:nvSpPr>
        <dsp:cNvPr id="0" name=""/>
        <dsp:cNvSpPr/>
      </dsp:nvSpPr>
      <dsp:spPr>
        <a:xfrm>
          <a:off x="0" y="3690049"/>
          <a:ext cx="1244867" cy="17397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74" tIns="171852" rIns="65874" bIns="17185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Ask</a:t>
          </a:r>
        </a:p>
      </dsp:txBody>
      <dsp:txXfrm>
        <a:off x="0" y="3690049"/>
        <a:ext cx="1244867" cy="1739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F0D61-38A9-442D-BE6A-A742D80289C4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946A7-E8F3-48EF-9EF4-0C4AC258B7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277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946A7-E8F3-48EF-9EF4-0C4AC258B74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092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946A7-E8F3-48EF-9EF4-0C4AC258B74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113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A946A7-E8F3-48EF-9EF4-0C4AC258B74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807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3652-82A0-B972-D6CE-6B3145726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BFD8B-55A5-EBAE-83C5-F04987120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18BF1-711C-4B2E-64F8-6E4DA1C01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2B6E-512F-4E88-A3C3-6C26DE04C4AF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F4518-8035-7120-1A6F-39316A80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A9BA2-A5BE-D7B5-4379-FED25016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4CF8-1623-4BC5-BEC0-11E37EB156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987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7127-CEA4-9DA1-42E0-D12B13139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84E30-6865-8E85-C2F4-9030398C6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743DC-79B5-4FD3-E693-EF17FE5B8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2B6E-512F-4E88-A3C3-6C26DE04C4AF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15989-2904-1716-399A-90FB5D3C0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F4643-0FE2-F9CA-1DDB-ED82E1164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4CF8-1623-4BC5-BEC0-11E37EB156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203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3D436-F49F-E59B-A57E-02A656D3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F014B-2264-0936-BC94-8911B7C30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6E111-318C-8573-AB1A-4F699724B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2B6E-512F-4E88-A3C3-6C26DE04C4AF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C0550-1DE1-CC73-C1E4-760CCD5E7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F37E8-43C9-C2F5-CB75-5C981A1BA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4CF8-1623-4BC5-BEC0-11E37EB156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009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75557-1B46-BD32-229F-6A710DF5E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0B9B1-F8DD-43D9-1CFC-F308C908C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20418-8A54-5C7E-29F3-B43E03629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6ECD8-AA73-7E38-67BD-607F49227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2B6E-512F-4E88-A3C3-6C26DE04C4AF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21814-79A1-C46E-B63C-F464E4AEA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3F24-3603-E6B7-B3CD-0A9B5F9CB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4CF8-1623-4BC5-BEC0-11E37EB156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9105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9C31-C4CC-820C-A753-CAE39B33A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FD0A7-85E0-450B-0530-618A643A0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036B5-6C7E-5BF3-5359-34963CBD8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701262-6FD4-F2AF-4F1B-60D065BD1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7A9D1-2ED9-DEA4-5320-C16D436B37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A52AB5-1DF4-57F8-F873-0F9B033C5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2B6E-512F-4E88-A3C3-6C26DE04C4AF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8AD446-FD59-C803-E2A1-49455517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E7C11F-7D7B-601D-3597-A0B5E05E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4CF8-1623-4BC5-BEC0-11E37EB156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94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2FF34-E031-B612-A95F-35F20F15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7E179-AE4E-A947-8246-93727B1A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2B6E-512F-4E88-A3C3-6C26DE04C4AF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499EF8-2EE6-1921-5D28-341C7D916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CDD64C-DE4C-C816-FD3C-A6475D2A9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4CF8-1623-4BC5-BEC0-11E37EB156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58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BD0718-E8DB-15B5-DF8D-905058180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2B6E-512F-4E88-A3C3-6C26DE04C4AF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8D5F0B-895B-66BC-E3D7-C32B86C8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339DA-EF34-E313-AF31-4C9CBB395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4CF8-1623-4BC5-BEC0-11E37EB156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312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AA3F-5C14-6B19-6FAC-3E5AA29D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1D53B-18E1-81D1-5F3F-4DEBCAC31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0BD04-6141-7892-00D4-1AF53B5AA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2755F-44D9-BB82-D173-4017494BA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2B6E-512F-4E88-A3C3-6C26DE04C4AF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B7126-DCE5-620A-FE1C-8BDCDB597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7D397-7B7B-1C8A-B5E9-3C2C761F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4CF8-1623-4BC5-BEC0-11E37EB156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77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0A3D-525C-E94C-5222-8743F712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A472EC-0EA0-CEA1-E10E-BDB75A845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813E9-AE0A-0BAD-BAB3-1972413B3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46B0F-C304-373B-16FA-1DD63C294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2B6E-512F-4E88-A3C3-6C26DE04C4AF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80B7B-198C-C2CB-940D-A994BB330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8D19B-A343-4E1E-BE02-FAA2486D1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4CF8-1623-4BC5-BEC0-11E37EB156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259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A3F72-F7E9-8331-0195-848970A36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8FD117-606F-ABAE-0A53-C3DADCB6C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F9B6A-8860-7A6B-D66E-7341C7C0C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2B6E-512F-4E88-A3C3-6C26DE04C4AF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9595A-FBBC-9473-E083-CCB5217D0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654BE-D707-3B1B-3461-83C6DFCE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4CF8-1623-4BC5-BEC0-11E37EB156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414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493D84-9A3B-B308-2446-E027BD1BF2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C8395-4ED3-7F91-7376-1AE06251E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60E58-E435-53EB-F0F7-9A11BE6DC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2B6E-512F-4E88-A3C3-6C26DE04C4AF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93FC0-FF7E-629C-48E5-9ABBC630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C9A3B-114B-EB5D-13F0-238868BE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24CF8-1623-4BC5-BEC0-11E37EB156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60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97B758-176F-858A-B3DC-FCAE6E132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9F354-58A0-8A20-5294-B6C4F4372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BBB4C-B207-C157-0D72-A24162398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02B6E-512F-4E88-A3C3-6C26DE04C4AF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EFDF-3FD8-C01A-5B81-3FE0D2A9F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A4CC5-44F8-6D3B-9500-73E840188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24CF8-1623-4BC5-BEC0-11E37EB156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87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765C1-913E-326B-E2BB-F7DD80259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Strikes 24</a:t>
            </a:r>
            <a:r>
              <a:rPr lang="en-GB" sz="5400" baseline="30000"/>
              <a:t>th</a:t>
            </a:r>
            <a:r>
              <a:rPr lang="en-GB" sz="5400"/>
              <a:t>, 25</a:t>
            </a:r>
            <a:r>
              <a:rPr lang="en-GB" sz="5400" baseline="30000"/>
              <a:t>th</a:t>
            </a:r>
            <a:r>
              <a:rPr lang="en-GB" sz="5400"/>
              <a:t> and 30</a:t>
            </a:r>
            <a:r>
              <a:rPr lang="en-GB" sz="5400" baseline="30000"/>
              <a:t>th</a:t>
            </a:r>
            <a:r>
              <a:rPr lang="en-GB" sz="5400"/>
              <a:t> November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C00F5-90B8-F5C4-6BA0-9849205F6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200" dirty="0"/>
              <a:t>It </a:t>
            </a:r>
            <a:r>
              <a:rPr lang="en-GB" sz="2200" b="1" dirty="0"/>
              <a:t>is your future we are fighting for</a:t>
            </a:r>
            <a:r>
              <a:rPr lang="en-GB" sz="2200" dirty="0"/>
              <a:t>.</a:t>
            </a:r>
          </a:p>
          <a:p>
            <a:r>
              <a:rPr lang="en-GB" sz="2200" dirty="0">
                <a:cs typeface="Calibri"/>
              </a:rPr>
              <a:t>Higher education will decline rapidly if staff cannot afford to work in universities</a:t>
            </a:r>
            <a:endParaRPr lang="en-GB" sz="2200" dirty="0"/>
          </a:p>
          <a:p>
            <a:r>
              <a:rPr lang="en-GB" sz="2200" dirty="0">
                <a:cs typeface="Calibri"/>
              </a:rPr>
              <a:t>Staff are facing massive cuts to salaries in real terms and a 35% loss in their pensions</a:t>
            </a:r>
            <a:endParaRPr lang="en-GB" sz="2200" dirty="0"/>
          </a:p>
          <a:p>
            <a:r>
              <a:rPr lang="en-GB" sz="2200" dirty="0"/>
              <a:t>Those on strike do </a:t>
            </a:r>
            <a:r>
              <a:rPr lang="en-GB" sz="2200" b="1" dirty="0"/>
              <a:t>not get paid</a:t>
            </a:r>
            <a:r>
              <a:rPr lang="en-GB" sz="2200" dirty="0"/>
              <a:t> for the days they are on strike</a:t>
            </a:r>
            <a:endParaRPr lang="en-GB" sz="2200" dirty="0">
              <a:cs typeface="Calibri"/>
            </a:endParaRPr>
          </a:p>
          <a:p>
            <a:r>
              <a:rPr lang="en-GB" sz="2200" dirty="0"/>
              <a:t>We are requesting that all wages held back by college for strikers are put into the student hardship fund.</a:t>
            </a:r>
          </a:p>
          <a:p>
            <a:r>
              <a:rPr lang="en-GB" sz="2200" dirty="0"/>
              <a:t>We take the decision to go on strike very seriously, we hate having an impact on your learning.</a:t>
            </a:r>
          </a:p>
        </p:txBody>
      </p:sp>
    </p:spTree>
    <p:extLst>
      <p:ext uri="{BB962C8B-B14F-4D97-AF65-F5344CB8AC3E}">
        <p14:creationId xmlns:p14="http://schemas.microsoft.com/office/powerpoint/2010/main" val="3430256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44433-BA95-D181-37C6-39DB884F8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5400"/>
              <a:t>Pay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32CA1-E04C-FE14-543F-05121D39A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fontScale="92500" lnSpcReduction="20000"/>
          </a:bodyPr>
          <a:lstStyle/>
          <a:p>
            <a:r>
              <a:rPr lang="en-GB" sz="2200" dirty="0"/>
              <a:t>Imperial trade unions negotiate Pay directly with Imperial management.</a:t>
            </a:r>
          </a:p>
          <a:p>
            <a:r>
              <a:rPr lang="en-GB" sz="2200" dirty="0"/>
              <a:t>Annual Surplus in 2021 of £162 million.</a:t>
            </a:r>
          </a:p>
          <a:p>
            <a:r>
              <a:rPr lang="en-GB" sz="2200" dirty="0"/>
              <a:t>Reserves of £1,878 million.</a:t>
            </a:r>
          </a:p>
          <a:p>
            <a:r>
              <a:rPr lang="en-GB" sz="2200" dirty="0"/>
              <a:t>Imperial can afford to pay us fairly but they have </a:t>
            </a:r>
            <a:r>
              <a:rPr lang="en-GB" sz="2200" b="1" dirty="0"/>
              <a:t>chosen</a:t>
            </a:r>
            <a:r>
              <a:rPr lang="en-GB" sz="2200" dirty="0"/>
              <a:t> not to.</a:t>
            </a:r>
          </a:p>
          <a:p>
            <a:r>
              <a:rPr lang="en-GB" sz="2200" dirty="0"/>
              <a:t>If this continues Imperial will no longer be able to attract the best staff – directly impacting your education. </a:t>
            </a: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1488975C-6F8A-01A4-DB90-B11E9A7EF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693401"/>
            <a:ext cx="6903720" cy="547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5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20F2FD-B3C8-C2C3-4A40-4B5DAB5E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/>
              <a:t>Pensions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4CEAC-CE42-0CC3-8AF7-4BC679E41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2200" dirty="0"/>
              <a:t>USS runs the pensions on behalf of UUK (universities UK).</a:t>
            </a:r>
          </a:p>
          <a:p>
            <a:r>
              <a:rPr lang="en-GB" sz="2200" dirty="0"/>
              <a:t>Valuation done in March 2020 showed huge deficit:</a:t>
            </a:r>
          </a:p>
          <a:p>
            <a:pPr lvl="1"/>
            <a:r>
              <a:rPr lang="en-GB" sz="2200" dirty="0"/>
              <a:t>Note date!</a:t>
            </a:r>
          </a:p>
          <a:p>
            <a:pPr lvl="1"/>
            <a:r>
              <a:rPr lang="en-GB" sz="2200" dirty="0"/>
              <a:t>Unrealistically prudent valuation – against JNC recommendations.</a:t>
            </a:r>
            <a:endParaRPr lang="en-GB" sz="2200" dirty="0">
              <a:cs typeface="Calibri"/>
            </a:endParaRPr>
          </a:p>
          <a:p>
            <a:r>
              <a:rPr lang="en-GB" sz="2200" dirty="0"/>
              <a:t>Slashing of pensions imposed on staff in 2022 ( for member under 40 this will cost them £100k-200k…more for students hoping to become British academics).</a:t>
            </a:r>
          </a:p>
          <a:p>
            <a:r>
              <a:rPr lang="en-GB" sz="2200" dirty="0"/>
              <a:t>New estimates now show </a:t>
            </a:r>
            <a:r>
              <a:rPr lang="en-GB" sz="2200" b="1" dirty="0"/>
              <a:t>USS fund not in deficit </a:t>
            </a:r>
            <a:r>
              <a:rPr lang="en-GB" sz="2200" dirty="0"/>
              <a:t>after all</a:t>
            </a:r>
            <a:r>
              <a:rPr lang="en-GB" sz="2200" b="1" dirty="0"/>
              <a:t> </a:t>
            </a:r>
            <a:r>
              <a:rPr lang="en-GB" sz="2200" dirty="0"/>
              <a:t>(1.8billion surplus).</a:t>
            </a:r>
          </a:p>
          <a:p>
            <a:r>
              <a:rPr lang="en-GB" sz="2200" dirty="0"/>
              <a:t>We want Imperial management to lobby UUK and USS to reverse all the cuts in the pensions.</a:t>
            </a:r>
          </a:p>
        </p:txBody>
      </p:sp>
    </p:spTree>
    <p:extLst>
      <p:ext uri="{BB962C8B-B14F-4D97-AF65-F5344CB8AC3E}">
        <p14:creationId xmlns:p14="http://schemas.microsoft.com/office/powerpoint/2010/main" val="838647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F9B896-2216-F348-55D3-B446430F5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/>
              <a:t>What can you do to support us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BE180B11-0B65-EBE7-695A-BB39AF0A2D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6309865"/>
              </p:ext>
            </p:extLst>
          </p:nvPr>
        </p:nvGraphicFramePr>
        <p:xfrm>
          <a:off x="5126418" y="552091"/>
          <a:ext cx="6224335" cy="5431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7860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9998C4-A22B-C6F2-20EC-6578AD854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 dirty="0"/>
              <a:t>Effect on LA&amp;G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0D70E-8A70-0B3B-4149-6E5527660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2200" dirty="0"/>
              <a:t>If I decide to strike I will:</a:t>
            </a:r>
          </a:p>
          <a:p>
            <a:pPr lvl="1"/>
            <a:r>
              <a:rPr lang="en-GB" sz="2200"/>
              <a:t>When the disputes are settled adequately, provide full </a:t>
            </a:r>
            <a:r>
              <a:rPr lang="en-GB" sz="2200" dirty="0"/>
              <a:t>set of notes (even for parts that I haven’t lectured on – but not videos).</a:t>
            </a:r>
          </a:p>
          <a:p>
            <a:pPr lvl="1"/>
            <a:r>
              <a:rPr lang="en-GB" sz="2200" dirty="0"/>
              <a:t>Not examine parts that haven’t been lectured on.</a:t>
            </a:r>
          </a:p>
          <a:p>
            <a:pPr lvl="1"/>
            <a:r>
              <a:rPr lang="en-GB" sz="2200" dirty="0"/>
              <a:t>Not skip sections but continue from where we stopped the last lecture (this may mean we do not finish the course). </a:t>
            </a:r>
          </a:p>
        </p:txBody>
      </p:sp>
    </p:spTree>
    <p:extLst>
      <p:ext uri="{BB962C8B-B14F-4D97-AF65-F5344CB8AC3E}">
        <p14:creationId xmlns:p14="http://schemas.microsoft.com/office/powerpoint/2010/main" val="1602788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412</Words>
  <Application>Microsoft Office PowerPoint</Application>
  <PresentationFormat>Widescreen</PresentationFormat>
  <Paragraphs>38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Strikes 24th, 25th and 30th November </vt:lpstr>
      <vt:lpstr>Pay</vt:lpstr>
      <vt:lpstr>Pensions</vt:lpstr>
      <vt:lpstr>What can you do to support us</vt:lpstr>
      <vt:lpstr>Effect on LA&amp;G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 dispute Imperial College</dc:title>
  <dc:creator>Kestner, Charlotte H</dc:creator>
  <cp:lastModifiedBy>Kestner, Charlotte H</cp:lastModifiedBy>
  <cp:revision>50</cp:revision>
  <dcterms:created xsi:type="dcterms:W3CDTF">2022-09-05T09:22:31Z</dcterms:created>
  <dcterms:modified xsi:type="dcterms:W3CDTF">2022-11-14T14:25:33Z</dcterms:modified>
</cp:coreProperties>
</file>