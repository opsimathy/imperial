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219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1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91" y="595"/>
      </p:cViewPr>
      <p:guideLst>
        <p:guide pos="721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26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62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008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04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735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85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39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407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739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16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E97E3-4DF8-4680-9273-985365FF77A8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76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E97E3-4DF8-4680-9273-985365FF77A8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5C486-B30A-4329-8521-67D2B1D2D333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AA06BB87-0D2D-2454-6F4D-72A2AB72ED1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4172" y="49974"/>
            <a:ext cx="1231012" cy="135764"/>
            <a:chOff x="0" y="3473"/>
            <a:chExt cx="15360" cy="1694"/>
          </a:xfrm>
          <a:solidFill>
            <a:srgbClr val="0000CD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E07C0AE4-8F50-4642-B80F-8C3BD44734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8FB86ED-C97F-C0B3-0C3A-209069D9ED3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9917CF0C-AC0A-6575-C3D9-D97AB35BCA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F390DCD7-EE7F-3C1B-A00B-13C7D54586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E203C39-C28B-7AAE-862E-9EAEA22B3A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ACF2DE1D-1CB8-070C-3890-02C9879793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A59707F3-5A95-3234-4AB8-F0DFEC7FD5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9FE47439-D46A-DBF8-F8EC-18D0A80A9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516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5719" y="494270"/>
            <a:ext cx="9214022" cy="5322330"/>
          </a:xfrm>
        </p:spPr>
        <p:txBody>
          <a:bodyPr>
            <a:normAutofit fontScale="90000"/>
          </a:bodyPr>
          <a:lstStyle/>
          <a:p>
            <a:br>
              <a:rPr lang="pt-BR" sz="4400" b="1" dirty="0"/>
            </a:br>
            <a:br>
              <a:rPr lang="pt-BR" sz="4400" b="1" dirty="0"/>
            </a:br>
            <a:r>
              <a:rPr lang="pt-BR" sz="3600" b="1" dirty="0"/>
              <a:t>MATH60025/MATH70025: 2024-2025</a:t>
            </a:r>
            <a:br>
              <a:rPr lang="pt-BR" sz="3600" b="1" dirty="0"/>
            </a:br>
            <a:br>
              <a:rPr lang="pt-BR" sz="5300" dirty="0"/>
            </a:br>
            <a:br>
              <a:rPr lang="pt-BR" sz="5300" b="1" dirty="0"/>
            </a:br>
            <a:br>
              <a:rPr lang="pt-BR" b="1" dirty="0"/>
            </a:br>
            <a:r>
              <a:rPr lang="en-GB" sz="2700" b="1" dirty="0"/>
              <a:t>Dr Shahid Mughal</a:t>
            </a:r>
            <a:br>
              <a:rPr lang="en-GB" sz="2700" b="1" dirty="0"/>
            </a:br>
            <a:r>
              <a:rPr lang="en-GB" sz="2700" b="1" dirty="0"/>
              <a:t>Email: s.mughal@imperial.ac.uk </a:t>
            </a:r>
            <a:br>
              <a:rPr lang="en-GB" sz="2700" b="1" dirty="0"/>
            </a:br>
            <a:r>
              <a:rPr lang="en-GB" sz="2700" b="1" dirty="0"/>
              <a:t>Huxley 734</a:t>
            </a:r>
            <a:br>
              <a:rPr lang="en-GB" sz="3100" b="1" dirty="0"/>
            </a:br>
            <a:br>
              <a:rPr lang="en-GB" sz="3100" b="1" dirty="0"/>
            </a:br>
            <a:r>
              <a:rPr lang="en-GB" sz="3100" b="1"/>
              <a:t>27 Lectures</a:t>
            </a:r>
            <a:br>
              <a:rPr lang="en-GB" sz="3100" b="1" dirty="0"/>
            </a:br>
            <a:r>
              <a:rPr lang="en-GB" sz="3100" b="1" dirty="0"/>
              <a:t>Assessment 100% by projects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3BCDC4-90C2-3730-D215-20823D5F806B}"/>
              </a:ext>
            </a:extLst>
          </p:cNvPr>
          <p:cNvSpPr/>
          <p:nvPr/>
        </p:nvSpPr>
        <p:spPr>
          <a:xfrm>
            <a:off x="2346031" y="1831996"/>
            <a:ext cx="7499937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</a:t>
            </a:r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omputational Partial Differential </a:t>
            </a:r>
          </a:p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Equations</a:t>
            </a:r>
          </a:p>
        </p:txBody>
      </p:sp>
    </p:spTree>
    <p:extLst>
      <p:ext uri="{BB962C8B-B14F-4D97-AF65-F5344CB8AC3E}">
        <p14:creationId xmlns:p14="http://schemas.microsoft.com/office/powerpoint/2010/main" val="375831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283" y="1253331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/>
              <a:t>Prerequisites: </a:t>
            </a:r>
            <a:r>
              <a:rPr lang="en-GB" dirty="0"/>
              <a:t>None, other than the core modules from years 1 &amp; 2. </a:t>
            </a:r>
          </a:p>
          <a:p>
            <a:pPr marL="0" indent="0">
              <a:buNone/>
            </a:pPr>
            <a:r>
              <a:rPr lang="en-GB" dirty="0"/>
              <a:t>BUT some background in partial differential equations helps.</a:t>
            </a:r>
          </a:p>
          <a:p>
            <a:pPr marL="0" indent="0">
              <a:buNone/>
            </a:pPr>
            <a:r>
              <a:rPr lang="en-GB" dirty="0"/>
              <a:t>Y2 module: PDEs in Action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will as part of the assessment have to produce and/or modify programs in (say) </a:t>
            </a:r>
            <a:r>
              <a:rPr lang="en-GB" dirty="0" err="1"/>
              <a:t>Matlab</a:t>
            </a:r>
            <a:r>
              <a:rPr lang="en-GB" dirty="0"/>
              <a:t> or any other language (Python) of your choice.</a:t>
            </a:r>
          </a:p>
          <a:p>
            <a:pPr marL="0" indent="0">
              <a:buNone/>
            </a:pPr>
            <a:r>
              <a:rPr lang="en-GB" dirty="0"/>
              <a:t>You should already be proficient in this, or be able to learn pretty quickly.</a:t>
            </a:r>
          </a:p>
          <a:p>
            <a:pPr marL="0" indent="0">
              <a:buNone/>
            </a:pPr>
            <a:r>
              <a:rPr lang="en-GB" dirty="0"/>
              <a:t>If you have never done any programming, this module is </a:t>
            </a:r>
            <a:r>
              <a:rPr lang="en-GB" b="1" dirty="0"/>
              <a:t>NOT</a:t>
            </a:r>
            <a:r>
              <a:rPr lang="en-GB" dirty="0"/>
              <a:t> for you! (</a:t>
            </a:r>
            <a:r>
              <a:rPr lang="en-GB" i="1" dirty="0">
                <a:solidFill>
                  <a:schemeClr val="accent5">
                    <a:lumMod val="50000"/>
                  </a:schemeClr>
                </a:solidFill>
              </a:rPr>
              <a:t>unless you are a quick learner</a:t>
            </a:r>
            <a:r>
              <a:rPr lang="en-GB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57637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/>
              <a:t>Assessment</a:t>
            </a:r>
            <a:br>
              <a:rPr lang="en-GB" dirty="0"/>
            </a:br>
            <a:r>
              <a:rPr lang="en-GB" sz="3100" b="1" dirty="0"/>
              <a:t>The module will be assessed solely by projects.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effectLst/>
                <a:latin typeface="Arial" panose="020B0604020202020204" pitchFamily="34" charset="0"/>
              </a:rPr>
              <a:t>1. CW 1 : 25% released 29 January, submission 1pm, 10 February.</a:t>
            </a:r>
            <a:br>
              <a:rPr lang="en-GB" sz="2400" dirty="0"/>
            </a:br>
            <a:r>
              <a:rPr lang="en-GB" sz="2400" dirty="0">
                <a:effectLst/>
                <a:latin typeface="Arial" panose="020B0604020202020204" pitchFamily="34" charset="0"/>
              </a:rPr>
              <a:t>2. CW 2 : 40% released 16 February, submission 1pm, 3 March.</a:t>
            </a:r>
            <a:br>
              <a:rPr lang="en-GB" sz="2400" dirty="0"/>
            </a:br>
            <a:r>
              <a:rPr lang="en-GB" sz="2400" dirty="0">
                <a:effectLst/>
                <a:latin typeface="Arial" panose="020B0604020202020204" pitchFamily="34" charset="0"/>
              </a:rPr>
              <a:t>3. CW 3 : 35% released 8 March, submission 1pm, 20 March.</a:t>
            </a:r>
            <a:br>
              <a:rPr lang="en-GB" sz="2400" dirty="0"/>
            </a:br>
            <a:r>
              <a:rPr lang="en-GB" sz="2400" dirty="0">
                <a:effectLst/>
                <a:latin typeface="Arial" panose="020B0604020202020204" pitchFamily="34" charset="0"/>
              </a:rPr>
              <a:t>4. CW 4 : 20% released 8 March, submission 1pm</a:t>
            </a:r>
            <a:r>
              <a:rPr lang="en-GB" sz="2400">
                <a:effectLst/>
                <a:latin typeface="Arial" panose="020B0604020202020204" pitchFamily="34" charset="0"/>
              </a:rPr>
              <a:t>, </a:t>
            </a:r>
            <a:r>
              <a:rPr lang="en-GB" sz="2400" dirty="0">
                <a:effectLst/>
                <a:latin typeface="Arial" panose="020B0604020202020204" pitchFamily="34" charset="0"/>
              </a:rPr>
              <a:t>4</a:t>
            </a:r>
            <a:r>
              <a:rPr lang="en-GB" sz="2400">
                <a:effectLst/>
                <a:latin typeface="Arial" panose="020B0604020202020204" pitchFamily="34" charset="0"/>
              </a:rPr>
              <a:t> </a:t>
            </a:r>
            <a:r>
              <a:rPr lang="en-GB" sz="2400" dirty="0">
                <a:effectLst/>
                <a:latin typeface="Arial" panose="020B0604020202020204" pitchFamily="34" charset="0"/>
              </a:rPr>
              <a:t>April (Mastery)</a:t>
            </a:r>
            <a:endParaRPr lang="en-GB" sz="2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 each you will be required to solve some PDE, and then report on your findings by way of submitting a detailed technical report.</a:t>
            </a:r>
          </a:p>
        </p:txBody>
      </p:sp>
    </p:spTree>
    <p:extLst>
      <p:ext uri="{BB962C8B-B14F-4D97-AF65-F5344CB8AC3E}">
        <p14:creationId xmlns:p14="http://schemas.microsoft.com/office/powerpoint/2010/main" val="246112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490" y="42210"/>
            <a:ext cx="5338865" cy="607641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GB" b="1" dirty="0"/>
              <a:t>Recommended Books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54" y="1124166"/>
            <a:ext cx="10515600" cy="527663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See the </a:t>
            </a:r>
            <a:r>
              <a:rPr lang="en-GB" b="1" dirty="0"/>
              <a:t>complete Reading list on Blackboard</a:t>
            </a:r>
            <a:r>
              <a:rPr lang="en-GB" dirty="0"/>
              <a:t>, but the following are pretty good.</a:t>
            </a:r>
          </a:p>
          <a:p>
            <a:r>
              <a:rPr lang="en-GB" dirty="0"/>
              <a:t> </a:t>
            </a:r>
            <a:r>
              <a:rPr lang="en-GB" dirty="0" err="1"/>
              <a:t>LeVeque</a:t>
            </a:r>
            <a:r>
              <a:rPr lang="en-GB" dirty="0"/>
              <a:t>, Randall J., Finite difference methods for ordinary and partial differential equations: steady-state and time-dependent problems. </a:t>
            </a:r>
            <a:r>
              <a:rPr lang="en-GB" dirty="0">
                <a:solidFill>
                  <a:srgbClr val="FF0000"/>
                </a:solidFill>
              </a:rPr>
              <a:t>&lt;= core book accompanies the course.</a:t>
            </a:r>
          </a:p>
          <a:p>
            <a:r>
              <a:rPr lang="en-GB" dirty="0"/>
              <a:t>Tannehill, John C., Computational Fluid mechanics and heat transfer.</a:t>
            </a:r>
          </a:p>
          <a:p>
            <a:r>
              <a:rPr lang="en-GB" dirty="0"/>
              <a:t>Smith, G. D., Numerical solution of partial differential equations : Finite difference methods.</a:t>
            </a:r>
          </a:p>
        </p:txBody>
      </p:sp>
    </p:spTree>
    <p:extLst>
      <p:ext uri="{BB962C8B-B14F-4D97-AF65-F5344CB8AC3E}">
        <p14:creationId xmlns:p14="http://schemas.microsoft.com/office/powerpoint/2010/main" val="900715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436" y="1"/>
            <a:ext cx="5999967" cy="75376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4000" b="1" dirty="0"/>
              <a:t>Module Content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9114"/>
            <a:ext cx="10515600" cy="522549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Introduction: How can we solve PDEs on a computer? Finite Difference Methods. Basic types of PDEs. Well-</a:t>
            </a:r>
            <a:r>
              <a:rPr lang="en-GB" dirty="0" err="1"/>
              <a:t>posedness</a:t>
            </a:r>
            <a:r>
              <a:rPr lang="en-GB" dirty="0"/>
              <a:t> and the importance of Boundary Conditions.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/>
              <a:t>Parabolic</a:t>
            </a:r>
            <a:r>
              <a:rPr lang="fr-FR" dirty="0"/>
              <a:t> </a:t>
            </a:r>
            <a:r>
              <a:rPr lang="fr-FR" dirty="0" err="1"/>
              <a:t>equations</a:t>
            </a:r>
            <a:r>
              <a:rPr lang="fr-FR" dirty="0"/>
              <a:t>: Explicit &amp; </a:t>
            </a:r>
            <a:r>
              <a:rPr lang="fr-FR" dirty="0" err="1"/>
              <a:t>Implicit</a:t>
            </a:r>
            <a:r>
              <a:rPr lang="fr-FR" dirty="0"/>
              <a:t> </a:t>
            </a:r>
            <a:r>
              <a:rPr lang="fr-FR" dirty="0" err="1"/>
              <a:t>Schemes</a:t>
            </a:r>
            <a:r>
              <a:rPr lang="fr-FR" dirty="0"/>
              <a:t>. Maximum </a:t>
            </a:r>
            <a:r>
              <a:rPr lang="fr-FR" dirty="0" err="1"/>
              <a:t>principle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. </a:t>
            </a:r>
            <a:r>
              <a:rPr lang="fr-FR" dirty="0" err="1"/>
              <a:t>Nonlinearities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Elliptic equations: Iterative methods: How can they be made faster? Jacobi, Gauss-Seidel, relaxation techniques. Multigrid methods and motivation and implementation.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Hyperbolic equations: characteristics, </a:t>
            </a:r>
            <a:r>
              <a:rPr lang="en-GB" dirty="0" err="1"/>
              <a:t>upwinding</a:t>
            </a:r>
            <a:r>
              <a:rPr lang="en-GB" dirty="0"/>
              <a:t>, Lex-</a:t>
            </a:r>
            <a:r>
              <a:rPr lang="en-GB" dirty="0" err="1"/>
              <a:t>Wendroff</a:t>
            </a:r>
            <a:r>
              <a:rPr lang="en-GB" dirty="0"/>
              <a:t> schemes. Non-reflecting boundary conditions, perfectly matched layers.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Finite Volume and shock capturing.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Combinations, Extensions and Applications: e.g. advection/diffusion and </a:t>
            </a:r>
            <a:r>
              <a:rPr lang="en-GB" dirty="0" err="1"/>
              <a:t>Navier</a:t>
            </a:r>
            <a:r>
              <a:rPr lang="en-GB" dirty="0"/>
              <a:t>-Stokes equations. Magnetic Induction and heat transport equations. Domain decomposition, operator splitting.</a:t>
            </a:r>
          </a:p>
        </p:txBody>
      </p:sp>
    </p:spTree>
    <p:extLst>
      <p:ext uri="{BB962C8B-B14F-4D97-AF65-F5344CB8AC3E}">
        <p14:creationId xmlns:p14="http://schemas.microsoft.com/office/powerpoint/2010/main" val="975074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505" y="0"/>
            <a:ext cx="5338174" cy="67640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Release of Material 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054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Generally material/</a:t>
            </a:r>
            <a:r>
              <a:rPr lang="en-GB" b="1" dirty="0"/>
              <a:t>lecture</a:t>
            </a:r>
            <a:r>
              <a:rPr lang="en-GB" dirty="0"/>
              <a:t> notes , weekly.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At release of each assessment, will have a problems/briefing.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 hope you enjoy the module!</a:t>
            </a:r>
          </a:p>
        </p:txBody>
      </p:sp>
    </p:spTree>
    <p:extLst>
      <p:ext uri="{BB962C8B-B14F-4D97-AF65-F5344CB8AC3E}">
        <p14:creationId xmlns:p14="http://schemas.microsoft.com/office/powerpoint/2010/main" val="2935648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484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  MATH60025/MATH70025: 2024-2025    Dr Shahid Mughal Email: s.mughal@imperial.ac.uk  Huxley 734  27 Lectures Assessment 100% by projects</vt:lpstr>
      <vt:lpstr>PowerPoint Presentation</vt:lpstr>
      <vt:lpstr>Assessment The module will be assessed solely by projects.</vt:lpstr>
      <vt:lpstr>Recommended Books </vt:lpstr>
      <vt:lpstr>Module Content </vt:lpstr>
      <vt:lpstr> Release of Material  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M3N10/M4N10/M5N10: 2020-2021 Computational Partial Dierential Equations  Dr Shahid Mughal Email: s.mughal@imperial.ac.uk   25-27 lectures + Surgery hours. Assessment 100% by projects</dc:title>
  <dc:creator>Mughal, M. S.</dc:creator>
  <cp:lastModifiedBy>Mughal, M. S.</cp:lastModifiedBy>
  <cp:revision>22</cp:revision>
  <dcterms:created xsi:type="dcterms:W3CDTF">2021-01-11T16:44:25Z</dcterms:created>
  <dcterms:modified xsi:type="dcterms:W3CDTF">2025-01-09T18:24:59Z</dcterms:modified>
</cp:coreProperties>
</file>